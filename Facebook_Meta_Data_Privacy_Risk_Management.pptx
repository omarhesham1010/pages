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B3A6B"/>
          </a:solidFill>
        </p:spPr>
      </p:sp>
      <p:sp>
        <p:nvSpPr>
          <p:cNvPr id="4" name="Shape 2"/>
          <p:cNvSpPr/>
          <p:nvPr/>
        </p:nvSpPr>
        <p:spPr>
          <a:xfrm>
            <a:off x="6858000" y="457200"/>
            <a:ext cx="1005840" cy="1005840"/>
          </a:xfrm>
          <a:prstGeom prst="ellipse">
            <a:avLst/>
          </a:prstGeom>
          <a:solidFill>
            <a:srgbClr val="D32F2F"/>
          </a:solidFill>
        </p:spPr>
      </p:sp>
      <p:sp>
        <p:nvSpPr>
          <p:cNvPr id="5" name="Shape 3"/>
          <p:cNvSpPr/>
          <p:nvPr/>
        </p:nvSpPr>
        <p:spPr>
          <a:xfrm>
            <a:off x="7406640" y="457200"/>
            <a:ext cx="1005840" cy="1005840"/>
          </a:xfrm>
          <a:prstGeom prst="ellipse">
            <a:avLst/>
          </a:prstGeom>
          <a:solidFill>
            <a:srgbClr val="B71C1C">
              <a:alpha val="80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6858000" y="15544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Meta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685800"/>
            <a:ext cx="5760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100" dirty="0">
                <a:solidFill>
                  <a:srgbClr val="FFFFFF"/>
                </a:solidFill>
              </a:rPr>
              <a:t>Facebook (Meta)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57607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9A825"/>
                </a:solidFill>
              </a:rPr>
              <a:t>Data Privacy Scandal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CADCFC"/>
                </a:solidFill>
              </a:rPr>
              <a:t>&amp; Relationship with Risk Management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5029200" cy="32004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11" name="Text 9"/>
          <p:cNvSpPr/>
          <p:nvPr/>
        </p:nvSpPr>
        <p:spPr>
          <a:xfrm>
            <a:off x="640080" y="2971800"/>
            <a:ext cx="5669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A825"/>
                </a:solidFill>
              </a:rPr>
              <a:t>Prepared By: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364992"/>
            <a:ext cx="54864" cy="329184"/>
          </a:xfrm>
          <a:prstGeom prst="rect">
            <a:avLst/>
          </a:prstGeom>
          <a:solidFill>
            <a:srgbClr val="F9A825"/>
          </a:solidFill>
        </p:spPr>
      </p:sp>
      <p:sp>
        <p:nvSpPr>
          <p:cNvPr id="13" name="Text 11"/>
          <p:cNvSpPr/>
          <p:nvPr/>
        </p:nvSpPr>
        <p:spPr>
          <a:xfrm>
            <a:off x="804672" y="3364992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Ebrahim Hesham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31920" y="3364992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B8DB0"/>
                </a:solidFill>
              </a:rPr>
              <a:t>22410126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54864" cy="329184"/>
          </a:xfrm>
          <a:prstGeom prst="rect">
            <a:avLst/>
          </a:prstGeom>
          <a:solidFill>
            <a:srgbClr val="F9A825"/>
          </a:solidFill>
        </p:spPr>
      </p:sp>
      <p:sp>
        <p:nvSpPr>
          <p:cNvPr id="16" name="Text 14"/>
          <p:cNvSpPr/>
          <p:nvPr/>
        </p:nvSpPr>
        <p:spPr>
          <a:xfrm>
            <a:off x="804672" y="3840480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Nour El-Gamal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931920" y="3840480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B8DB0"/>
                </a:solidFill>
              </a:rPr>
              <a:t>22410037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315968"/>
            <a:ext cx="54864" cy="329184"/>
          </a:xfrm>
          <a:prstGeom prst="rect">
            <a:avLst/>
          </a:prstGeom>
          <a:solidFill>
            <a:srgbClr val="F9A825"/>
          </a:solidFill>
        </p:spPr>
      </p:sp>
      <p:sp>
        <p:nvSpPr>
          <p:cNvPr id="19" name="Text 17"/>
          <p:cNvSpPr/>
          <p:nvPr/>
        </p:nvSpPr>
        <p:spPr>
          <a:xfrm>
            <a:off x="804672" y="4315968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Bishoy Sameh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931920" y="431596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B8DB0"/>
                </a:solidFill>
              </a:rPr>
              <a:t>22410182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3A6B"/>
          </a:solidFill>
        </p:spPr>
      </p:sp>
      <p:sp>
        <p:nvSpPr>
          <p:cNvPr id="22" name="Text 20"/>
          <p:cNvSpPr/>
          <p:nvPr/>
        </p:nvSpPr>
        <p:spPr>
          <a:xfrm>
            <a:off x="502920" y="4864608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B8DB0"/>
                </a:solidFill>
              </a:rPr>
              <a:t>Risk Management in the Digital Age  |  2018 – Present</a:t>
            </a:r>
            <a:endParaRPr lang="en-US" sz="1100" dirty="0"/>
          </a:p>
        </p:txBody>
      </p:sp>
      <p:sp>
        <p:nvSpPr>
          <p:cNvPr id="23" name="Shape 0"/>
          <p:cNvSpPr/>
          <p:nvPr/>
        </p:nvSpPr>
        <p:spPr>
          <a:xfrm>
            <a:off x="-9472930" y="0"/>
            <a:ext cx="201168" cy="514350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24" name="Shape 1"/>
          <p:cNvSpPr/>
          <p:nvPr/>
        </p:nvSpPr>
        <p:spPr>
          <a:xfrm>
            <a:off x="-9472930" y="4873752"/>
            <a:ext cx="9144000" cy="269748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25" name="Text 2"/>
          <p:cNvSpPr/>
          <p:nvPr/>
        </p:nvSpPr>
        <p:spPr>
          <a:xfrm>
            <a:off x="-1791970" y="4882896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DB0"/>
                </a:solidFill>
              </a:rPr>
              <a:t>2 / 12</a:t>
            </a:r>
            <a:endParaRPr lang="en-US" sz="1000" dirty="0"/>
          </a:p>
        </p:txBody>
      </p:sp>
      <p:sp>
        <p:nvSpPr>
          <p:cNvPr id="26" name="Shape 5"/>
          <p:cNvSpPr/>
          <p:nvPr/>
        </p:nvSpPr>
        <p:spPr>
          <a:xfrm>
            <a:off x="-9198610" y="1097280"/>
            <a:ext cx="5029200" cy="749808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6"/>
          <p:cNvSpPr/>
          <p:nvPr/>
        </p:nvSpPr>
        <p:spPr>
          <a:xfrm>
            <a:off x="-9198610" y="1097280"/>
            <a:ext cx="54864" cy="749808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28" name="Text 7"/>
          <p:cNvSpPr/>
          <p:nvPr/>
        </p:nvSpPr>
        <p:spPr>
          <a:xfrm>
            <a:off x="-9107170" y="1097280"/>
            <a:ext cx="59436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🏛️</a:t>
            </a:r>
            <a:endParaRPr lang="en-US" sz="2400" dirty="0"/>
          </a:p>
        </p:txBody>
      </p:sp>
      <p:sp>
        <p:nvSpPr>
          <p:cNvPr id="29" name="Text 8"/>
          <p:cNvSpPr/>
          <p:nvPr/>
        </p:nvSpPr>
        <p:spPr>
          <a:xfrm>
            <a:off x="-8467090" y="1097280"/>
            <a:ext cx="420624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</a:rPr>
              <a:t>Founded in 2004 by Mark Zuckerberg at Harvard University</a:t>
            </a:r>
            <a:endParaRPr lang="en-US" sz="1500" dirty="0"/>
          </a:p>
        </p:txBody>
      </p:sp>
      <p:sp>
        <p:nvSpPr>
          <p:cNvPr id="30" name="Shape 9"/>
          <p:cNvSpPr/>
          <p:nvPr/>
        </p:nvSpPr>
        <p:spPr>
          <a:xfrm>
            <a:off x="-9198610" y="2011680"/>
            <a:ext cx="5029200" cy="749808"/>
          </a:xfrm>
          <a:prstGeom prst="rect">
            <a:avLst/>
          </a:prstGeom>
          <a:solidFill>
            <a:srgbClr val="E8EEF9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10"/>
          <p:cNvSpPr/>
          <p:nvPr/>
        </p:nvSpPr>
        <p:spPr>
          <a:xfrm>
            <a:off x="-9198610" y="2011680"/>
            <a:ext cx="54864" cy="749808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32" name="Text 11"/>
          <p:cNvSpPr/>
          <p:nvPr/>
        </p:nvSpPr>
        <p:spPr>
          <a:xfrm>
            <a:off x="-9107170" y="2011680"/>
            <a:ext cx="59436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33" name="Text 12"/>
          <p:cNvSpPr/>
          <p:nvPr/>
        </p:nvSpPr>
        <p:spPr>
          <a:xfrm>
            <a:off x="-8467090" y="2011680"/>
            <a:ext cx="420624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</a:rPr>
              <a:t>Became one of the largest social media platforms in the world</a:t>
            </a:r>
            <a:endParaRPr lang="en-US" sz="1500" dirty="0"/>
          </a:p>
        </p:txBody>
      </p:sp>
      <p:sp>
        <p:nvSpPr>
          <p:cNvPr id="34" name="Shape 13"/>
          <p:cNvSpPr/>
          <p:nvPr/>
        </p:nvSpPr>
        <p:spPr>
          <a:xfrm>
            <a:off x="-9198610" y="2926080"/>
            <a:ext cx="5029200" cy="749808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14"/>
          <p:cNvSpPr/>
          <p:nvPr/>
        </p:nvSpPr>
        <p:spPr>
          <a:xfrm>
            <a:off x="-9198610" y="2926080"/>
            <a:ext cx="54864" cy="749808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36" name="Text 15"/>
          <p:cNvSpPr/>
          <p:nvPr/>
        </p:nvSpPr>
        <p:spPr>
          <a:xfrm>
            <a:off x="-9107170" y="2926080"/>
            <a:ext cx="59436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♾️</a:t>
            </a:r>
            <a:endParaRPr lang="en-US" sz="2400" dirty="0"/>
          </a:p>
        </p:txBody>
      </p:sp>
      <p:sp>
        <p:nvSpPr>
          <p:cNvPr id="37" name="Text 16"/>
          <p:cNvSpPr/>
          <p:nvPr/>
        </p:nvSpPr>
        <p:spPr>
          <a:xfrm>
            <a:off x="-8467090" y="2926080"/>
            <a:ext cx="420624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</a:rPr>
              <a:t>Rebranded to Meta Platforms in 2021</a:t>
            </a:r>
            <a:endParaRPr lang="en-US" sz="1500" dirty="0"/>
          </a:p>
        </p:txBody>
      </p:sp>
      <p:sp>
        <p:nvSpPr>
          <p:cNvPr id="38" name="Text 17"/>
          <p:cNvSpPr/>
          <p:nvPr/>
        </p:nvSpPr>
        <p:spPr>
          <a:xfrm>
            <a:off x="-3895090" y="10515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</a:rPr>
              <a:t>Meta's Ecosystem</a:t>
            </a:r>
            <a:endParaRPr lang="en-US" sz="1500" dirty="0"/>
          </a:p>
        </p:txBody>
      </p:sp>
      <p:sp>
        <p:nvSpPr>
          <p:cNvPr id="39" name="Shape 18"/>
          <p:cNvSpPr/>
          <p:nvPr/>
        </p:nvSpPr>
        <p:spPr>
          <a:xfrm>
            <a:off x="5577840" y="-2359025"/>
            <a:ext cx="1600200" cy="868680"/>
          </a:xfrm>
          <a:prstGeom prst="rect">
            <a:avLst/>
          </a:prstGeom>
          <a:solidFill>
            <a:srgbClr val="1877F2"/>
          </a:solidFill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Text 19"/>
          <p:cNvSpPr/>
          <p:nvPr/>
        </p:nvSpPr>
        <p:spPr>
          <a:xfrm>
            <a:off x="5577840" y="-2359025"/>
            <a:ext cx="16002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👥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Facebook</a:t>
            </a:r>
            <a:endParaRPr lang="en-US" sz="1300" dirty="0"/>
          </a:p>
        </p:txBody>
      </p:sp>
      <p:sp>
        <p:nvSpPr>
          <p:cNvPr id="41" name="Shape 20"/>
          <p:cNvSpPr/>
          <p:nvPr/>
        </p:nvSpPr>
        <p:spPr>
          <a:xfrm>
            <a:off x="7315200" y="-2359025"/>
            <a:ext cx="1600200" cy="868680"/>
          </a:xfrm>
          <a:prstGeom prst="rect">
            <a:avLst/>
          </a:prstGeom>
          <a:solidFill>
            <a:srgbClr val="C13584"/>
          </a:solidFill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2" name="Text 21"/>
          <p:cNvSpPr/>
          <p:nvPr/>
        </p:nvSpPr>
        <p:spPr>
          <a:xfrm>
            <a:off x="7315200" y="-2359025"/>
            <a:ext cx="16002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📸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Instagram</a:t>
            </a:r>
            <a:endParaRPr lang="en-US" sz="1300" dirty="0"/>
          </a:p>
        </p:txBody>
      </p:sp>
      <p:sp>
        <p:nvSpPr>
          <p:cNvPr id="43" name="Shape 22"/>
          <p:cNvSpPr/>
          <p:nvPr/>
        </p:nvSpPr>
        <p:spPr>
          <a:xfrm>
            <a:off x="5577840" y="-1307465"/>
            <a:ext cx="1600200" cy="868680"/>
          </a:xfrm>
          <a:prstGeom prst="rect">
            <a:avLst/>
          </a:prstGeom>
          <a:solidFill>
            <a:srgbClr val="128C7E"/>
          </a:solidFill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4" name="Text 23"/>
          <p:cNvSpPr/>
          <p:nvPr/>
        </p:nvSpPr>
        <p:spPr>
          <a:xfrm>
            <a:off x="5577840" y="-1307465"/>
            <a:ext cx="16002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💬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WhatsApp</a:t>
            </a:r>
            <a:endParaRPr lang="en-US" sz="1300" dirty="0"/>
          </a:p>
        </p:txBody>
      </p:sp>
      <p:sp>
        <p:nvSpPr>
          <p:cNvPr id="45" name="Shape 24"/>
          <p:cNvSpPr/>
          <p:nvPr/>
        </p:nvSpPr>
        <p:spPr>
          <a:xfrm>
            <a:off x="7315200" y="-1307465"/>
            <a:ext cx="1600200" cy="868680"/>
          </a:xfrm>
          <a:prstGeom prst="rect">
            <a:avLst/>
          </a:prstGeom>
          <a:solidFill>
            <a:srgbClr val="0084FF"/>
          </a:solidFill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6" name="Text 25"/>
          <p:cNvSpPr/>
          <p:nvPr/>
        </p:nvSpPr>
        <p:spPr>
          <a:xfrm>
            <a:off x="7315200" y="-1307465"/>
            <a:ext cx="16002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✉️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Messenger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doors dir="ver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3" name="Shape 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4" name="Text 2"/>
          <p:cNvSpPr/>
          <p:nvPr/>
        </p:nvSpPr>
        <p:spPr>
          <a:xfrm>
            <a:off x="7680960" y="4882896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DB0"/>
                </a:solidFill>
              </a:rPr>
              <a:t>2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1168" y="0"/>
            <a:ext cx="8942832" cy="960120"/>
          </a:xfrm>
          <a:prstGeom prst="rect">
            <a:avLst/>
          </a:prstGeom>
          <a:solidFill>
            <a:srgbClr val="1F4E99"/>
          </a:solidFill>
        </p:spPr>
      </p:sp>
      <p:sp>
        <p:nvSpPr>
          <p:cNvPr id="6" name="Text 4"/>
          <p:cNvSpPr/>
          <p:nvPr/>
        </p:nvSpPr>
        <p:spPr>
          <a:xfrm>
            <a:off x="384048" y="0"/>
            <a:ext cx="85039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Introduction to Facebook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5029200" cy="749808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97280"/>
            <a:ext cx="54864" cy="749808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9" name="Text 7"/>
          <p:cNvSpPr/>
          <p:nvPr/>
        </p:nvSpPr>
        <p:spPr>
          <a:xfrm>
            <a:off x="365760" y="1097280"/>
            <a:ext cx="59436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🏛️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1097280"/>
            <a:ext cx="420624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</a:rPr>
              <a:t>Founded in 2004 by Mark Zuckerberg at Harvard University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5029200" cy="749808"/>
          </a:xfrm>
          <a:prstGeom prst="rect">
            <a:avLst/>
          </a:prstGeom>
          <a:solidFill>
            <a:srgbClr val="E8EEF9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011680"/>
            <a:ext cx="54864" cy="749808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13" name="Text 11"/>
          <p:cNvSpPr/>
          <p:nvPr/>
        </p:nvSpPr>
        <p:spPr>
          <a:xfrm>
            <a:off x="365760" y="2011680"/>
            <a:ext cx="59436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05840" y="2011680"/>
            <a:ext cx="420624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</a:rPr>
              <a:t>Became one of the largest social media platforms in the world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5029200" cy="749808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926080"/>
            <a:ext cx="54864" cy="749808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17" name="Text 15"/>
          <p:cNvSpPr/>
          <p:nvPr/>
        </p:nvSpPr>
        <p:spPr>
          <a:xfrm>
            <a:off x="365760" y="2926080"/>
            <a:ext cx="59436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♾️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05840" y="2926080"/>
            <a:ext cx="420624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</a:rPr>
              <a:t>Rebranded to Meta Platforms in 2021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577840" y="10515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</a:rPr>
              <a:t>Meta's Ecosystem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577840" y="1508760"/>
            <a:ext cx="1600200" cy="868680"/>
          </a:xfrm>
          <a:prstGeom prst="rect">
            <a:avLst/>
          </a:prstGeom>
          <a:solidFill>
            <a:srgbClr val="1877F2"/>
          </a:solidFill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77840" y="1508760"/>
            <a:ext cx="16002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👥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Facebook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0" y="1508760"/>
            <a:ext cx="1600200" cy="868680"/>
          </a:xfrm>
          <a:prstGeom prst="rect">
            <a:avLst/>
          </a:prstGeom>
          <a:solidFill>
            <a:srgbClr val="C13584"/>
          </a:solidFill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0" y="1508760"/>
            <a:ext cx="16002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📸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Instagram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577840" y="2560320"/>
            <a:ext cx="1600200" cy="868680"/>
          </a:xfrm>
          <a:prstGeom prst="rect">
            <a:avLst/>
          </a:prstGeom>
          <a:solidFill>
            <a:srgbClr val="128C7E"/>
          </a:solidFill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577840" y="2560320"/>
            <a:ext cx="16002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💬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WhatsApp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315200" y="2560320"/>
            <a:ext cx="1600200" cy="868680"/>
          </a:xfrm>
          <a:prstGeom prst="rect">
            <a:avLst/>
          </a:prstGeom>
          <a:solidFill>
            <a:srgbClr val="0084FF"/>
          </a:solidFill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15200" y="2560320"/>
            <a:ext cx="16002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✉️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Messenger</a:t>
            </a:r>
            <a:endParaRPr lang="en-US" sz="1300" dirty="0"/>
          </a:p>
        </p:txBody>
      </p:sp>
      <p:sp>
        <p:nvSpPr>
          <p:cNvPr id="28" name="Shape 5"/>
          <p:cNvSpPr/>
          <p:nvPr/>
        </p:nvSpPr>
        <p:spPr>
          <a:xfrm>
            <a:off x="9464040" y="1078992"/>
            <a:ext cx="3017520" cy="2103120"/>
          </a:xfrm>
          <a:prstGeom prst="rect">
            <a:avLst/>
          </a:prstGeom>
          <a:solidFill>
            <a:srgbClr val="0D1B2A"/>
          </a:solidFill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9" name="Text 9"/>
          <p:cNvSpPr/>
          <p:nvPr/>
        </p:nvSpPr>
        <p:spPr>
          <a:xfrm>
            <a:off x="12755880" y="105156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</a:rPr>
              <a:t>📊  Data Collected from Users</a:t>
            </a:r>
            <a:endParaRPr lang="en-US" sz="1700" dirty="0"/>
          </a:p>
        </p:txBody>
      </p:sp>
      <p:sp>
        <p:nvSpPr>
          <p:cNvPr id="30" name="Shape 10"/>
          <p:cNvSpPr/>
          <p:nvPr/>
        </p:nvSpPr>
        <p:spPr>
          <a:xfrm>
            <a:off x="3584575" y="5895467"/>
            <a:ext cx="5303520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1" name="Shape 13"/>
          <p:cNvSpPr/>
          <p:nvPr/>
        </p:nvSpPr>
        <p:spPr>
          <a:xfrm>
            <a:off x="3584575" y="6370955"/>
            <a:ext cx="5303520" cy="420624"/>
          </a:xfrm>
          <a:prstGeom prst="rect">
            <a:avLst/>
          </a:prstGeom>
          <a:solidFill>
            <a:srgbClr val="E8EEF9"/>
          </a:solidFill>
        </p:spPr>
      </p:sp>
      <p:sp>
        <p:nvSpPr>
          <p:cNvPr id="32" name="Shape 16"/>
          <p:cNvSpPr/>
          <p:nvPr/>
        </p:nvSpPr>
        <p:spPr>
          <a:xfrm>
            <a:off x="3584575" y="6846443"/>
            <a:ext cx="5303520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3" name="Shape 19"/>
          <p:cNvSpPr/>
          <p:nvPr/>
        </p:nvSpPr>
        <p:spPr>
          <a:xfrm>
            <a:off x="3584575" y="7321931"/>
            <a:ext cx="5303520" cy="420624"/>
          </a:xfrm>
          <a:prstGeom prst="rect">
            <a:avLst/>
          </a:prstGeom>
          <a:solidFill>
            <a:srgbClr val="E8EEF9"/>
          </a:solidFill>
        </p:spPr>
      </p:sp>
      <p:sp>
        <p:nvSpPr>
          <p:cNvPr id="34" name="Shape 22"/>
          <p:cNvSpPr/>
          <p:nvPr/>
        </p:nvSpPr>
        <p:spPr>
          <a:xfrm>
            <a:off x="3584575" y="7797419"/>
            <a:ext cx="5303520" cy="420624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3" name="Shape 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4" name="Text 2"/>
          <p:cNvSpPr/>
          <p:nvPr/>
        </p:nvSpPr>
        <p:spPr>
          <a:xfrm>
            <a:off x="7680960" y="4882896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DB0"/>
                </a:solidFill>
              </a:rPr>
              <a:t>3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1168" y="0"/>
            <a:ext cx="8942832" cy="960120"/>
          </a:xfrm>
          <a:prstGeom prst="rect">
            <a:avLst/>
          </a:prstGeom>
          <a:solidFill>
            <a:srgbClr val="1F4E99"/>
          </a:solidFill>
        </p:spPr>
      </p:sp>
      <p:sp>
        <p:nvSpPr>
          <p:cNvPr id="6" name="Text 4"/>
          <p:cNvSpPr/>
          <p:nvPr/>
        </p:nvSpPr>
        <p:spPr>
          <a:xfrm>
            <a:off x="384048" y="0"/>
            <a:ext cx="85039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Facebook's Business Model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3017520" cy="2103120"/>
          </a:xfrm>
          <a:prstGeom prst="rect">
            <a:avLst/>
          </a:prstGeom>
          <a:solidFill>
            <a:srgbClr val="0D1B2A"/>
          </a:solidFill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09728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74320" y="169164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9A825"/>
                </a:solidFill>
              </a:rPr>
              <a:t>~97%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274320" y="2514600"/>
            <a:ext cx="30175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Revenue from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Digital Advertising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105156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</a:rPr>
              <a:t>📊  Data Collected from Users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566160" y="1536192"/>
            <a:ext cx="5303520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 11"/>
          <p:cNvSpPr/>
          <p:nvPr/>
        </p:nvSpPr>
        <p:spPr>
          <a:xfrm>
            <a:off x="3566160" y="1536192"/>
            <a:ext cx="54864" cy="420624"/>
          </a:xfrm>
          <a:prstGeom prst="rect">
            <a:avLst/>
          </a:prstGeom>
          <a:solidFill>
            <a:srgbClr val="1F4E99"/>
          </a:solidFill>
        </p:spPr>
      </p:sp>
      <p:sp>
        <p:nvSpPr>
          <p:cNvPr id="14" name="Text 12"/>
          <p:cNvSpPr/>
          <p:nvPr/>
        </p:nvSpPr>
        <p:spPr>
          <a:xfrm>
            <a:off x="3703320" y="1536192"/>
            <a:ext cx="51206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❤️  Interests &amp; Hobbies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566160" y="2011680"/>
            <a:ext cx="5303520" cy="420624"/>
          </a:xfrm>
          <a:prstGeom prst="rect">
            <a:avLst/>
          </a:prstGeom>
          <a:solidFill>
            <a:srgbClr val="E8EEF9"/>
          </a:solidFill>
        </p:spPr>
      </p:sp>
      <p:sp>
        <p:nvSpPr>
          <p:cNvPr id="16" name="Shape 14"/>
          <p:cNvSpPr/>
          <p:nvPr/>
        </p:nvSpPr>
        <p:spPr>
          <a:xfrm>
            <a:off x="3566160" y="2011680"/>
            <a:ext cx="54864" cy="420624"/>
          </a:xfrm>
          <a:prstGeom prst="rect">
            <a:avLst/>
          </a:prstGeom>
          <a:solidFill>
            <a:srgbClr val="1F4E99"/>
          </a:solidFill>
        </p:spPr>
      </p:sp>
      <p:sp>
        <p:nvSpPr>
          <p:cNvPr id="17" name="Text 15"/>
          <p:cNvSpPr/>
          <p:nvPr/>
        </p:nvSpPr>
        <p:spPr>
          <a:xfrm>
            <a:off x="3703320" y="2011680"/>
            <a:ext cx="51206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👍  Likes &amp; Reactions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66160" y="2487168"/>
            <a:ext cx="5303520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Shape 17"/>
          <p:cNvSpPr/>
          <p:nvPr/>
        </p:nvSpPr>
        <p:spPr>
          <a:xfrm>
            <a:off x="3566160" y="2487168"/>
            <a:ext cx="54864" cy="420624"/>
          </a:xfrm>
          <a:prstGeom prst="rect">
            <a:avLst/>
          </a:prstGeom>
          <a:solidFill>
            <a:srgbClr val="1F4E99"/>
          </a:solidFill>
        </p:spPr>
      </p:sp>
      <p:sp>
        <p:nvSpPr>
          <p:cNvPr id="20" name="Text 18"/>
          <p:cNvSpPr/>
          <p:nvPr/>
        </p:nvSpPr>
        <p:spPr>
          <a:xfrm>
            <a:off x="3703320" y="2487168"/>
            <a:ext cx="51206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🖱️  Online Behavior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566160" y="2962656"/>
            <a:ext cx="5303520" cy="420624"/>
          </a:xfrm>
          <a:prstGeom prst="rect">
            <a:avLst/>
          </a:prstGeom>
          <a:solidFill>
            <a:srgbClr val="E8EEF9"/>
          </a:solidFill>
        </p:spPr>
      </p:sp>
      <p:sp>
        <p:nvSpPr>
          <p:cNvPr id="22" name="Shape 20"/>
          <p:cNvSpPr/>
          <p:nvPr/>
        </p:nvSpPr>
        <p:spPr>
          <a:xfrm>
            <a:off x="3566160" y="2962656"/>
            <a:ext cx="54864" cy="420624"/>
          </a:xfrm>
          <a:prstGeom prst="rect">
            <a:avLst/>
          </a:prstGeom>
          <a:solidFill>
            <a:srgbClr val="1F4E99"/>
          </a:solidFill>
        </p:spPr>
      </p:sp>
      <p:sp>
        <p:nvSpPr>
          <p:cNvPr id="23" name="Text 21"/>
          <p:cNvSpPr/>
          <p:nvPr/>
        </p:nvSpPr>
        <p:spPr>
          <a:xfrm>
            <a:off x="3703320" y="2962656"/>
            <a:ext cx="51206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👤  Demographics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566160" y="3438144"/>
            <a:ext cx="5303520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5" name="Shape 23"/>
          <p:cNvSpPr/>
          <p:nvPr/>
        </p:nvSpPr>
        <p:spPr>
          <a:xfrm>
            <a:off x="3566160" y="3438144"/>
            <a:ext cx="54864" cy="420624"/>
          </a:xfrm>
          <a:prstGeom prst="rect">
            <a:avLst/>
          </a:prstGeom>
          <a:solidFill>
            <a:srgbClr val="1F4E99"/>
          </a:solidFill>
        </p:spPr>
      </p:sp>
      <p:sp>
        <p:nvSpPr>
          <p:cNvPr id="26" name="Text 24"/>
          <p:cNvSpPr/>
          <p:nvPr/>
        </p:nvSpPr>
        <p:spPr>
          <a:xfrm>
            <a:off x="3703320" y="3438144"/>
            <a:ext cx="51206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📍  Location Data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206240"/>
            <a:ext cx="8595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B8DB0"/>
                </a:solidFill>
              </a:rPr>
              <a:t>📌 This data helps advertisers target users with high precision.</a:t>
            </a:r>
            <a:endParaRPr lang="en-US" sz="1200" dirty="0"/>
          </a:p>
        </p:txBody>
      </p:sp>
      <p:sp>
        <p:nvSpPr>
          <p:cNvPr id="28" name="Shape 18"/>
          <p:cNvSpPr/>
          <p:nvPr/>
        </p:nvSpPr>
        <p:spPr>
          <a:xfrm>
            <a:off x="5577840" y="5560060"/>
            <a:ext cx="1600200" cy="868680"/>
          </a:xfrm>
          <a:prstGeom prst="rect">
            <a:avLst/>
          </a:prstGeom>
          <a:solidFill>
            <a:srgbClr val="1877F2"/>
          </a:solidFill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Text 19"/>
          <p:cNvSpPr/>
          <p:nvPr/>
        </p:nvSpPr>
        <p:spPr>
          <a:xfrm>
            <a:off x="5577840" y="5560060"/>
            <a:ext cx="16002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👥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Facebook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7315200" y="5560060"/>
            <a:ext cx="1600200" cy="868680"/>
          </a:xfrm>
          <a:prstGeom prst="rect">
            <a:avLst/>
          </a:prstGeom>
          <a:solidFill>
            <a:srgbClr val="C13584"/>
          </a:solidFill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Text 21"/>
          <p:cNvSpPr/>
          <p:nvPr/>
        </p:nvSpPr>
        <p:spPr>
          <a:xfrm>
            <a:off x="7315200" y="5560060"/>
            <a:ext cx="16002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📸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Instagram</a:t>
            </a:r>
            <a:endParaRPr lang="en-US" sz="1300" dirty="0"/>
          </a:p>
        </p:txBody>
      </p:sp>
      <p:sp>
        <p:nvSpPr>
          <p:cNvPr id="32" name="Shape 22"/>
          <p:cNvSpPr/>
          <p:nvPr/>
        </p:nvSpPr>
        <p:spPr>
          <a:xfrm>
            <a:off x="5577840" y="6611620"/>
            <a:ext cx="1600200" cy="868680"/>
          </a:xfrm>
          <a:prstGeom prst="rect">
            <a:avLst/>
          </a:prstGeom>
          <a:solidFill>
            <a:srgbClr val="128C7E"/>
          </a:solidFill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Text 23"/>
          <p:cNvSpPr/>
          <p:nvPr/>
        </p:nvSpPr>
        <p:spPr>
          <a:xfrm>
            <a:off x="5577840" y="6611620"/>
            <a:ext cx="16002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💬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WhatsApp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315200" y="6611620"/>
            <a:ext cx="1600200" cy="868680"/>
          </a:xfrm>
          <a:prstGeom prst="rect">
            <a:avLst/>
          </a:prstGeom>
          <a:solidFill>
            <a:srgbClr val="0084FF"/>
          </a:solidFill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Text 25"/>
          <p:cNvSpPr/>
          <p:nvPr/>
        </p:nvSpPr>
        <p:spPr>
          <a:xfrm>
            <a:off x="7315200" y="6611620"/>
            <a:ext cx="16002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✉️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Messenger</a:t>
            </a:r>
            <a:endParaRPr lang="en-US" sz="1300" dirty="0"/>
          </a:p>
        </p:txBody>
      </p:sp>
      <p:sp>
        <p:nvSpPr>
          <p:cNvPr id="36" name="Shape 0"/>
          <p:cNvSpPr/>
          <p:nvPr/>
        </p:nvSpPr>
        <p:spPr>
          <a:xfrm>
            <a:off x="9175750" y="0"/>
            <a:ext cx="201168" cy="514350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37" name="Shape 1"/>
          <p:cNvSpPr/>
          <p:nvPr/>
        </p:nvSpPr>
        <p:spPr>
          <a:xfrm>
            <a:off x="9175750" y="4873752"/>
            <a:ext cx="9144000" cy="269748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8" name="Text 2"/>
          <p:cNvSpPr/>
          <p:nvPr/>
        </p:nvSpPr>
        <p:spPr>
          <a:xfrm>
            <a:off x="16856710" y="4882896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DB0"/>
                </a:solidFill>
              </a:rPr>
              <a:t>2 / 12</a:t>
            </a:r>
            <a:endParaRPr lang="en-US" sz="1000" dirty="0"/>
          </a:p>
        </p:txBody>
      </p:sp>
      <p:sp>
        <p:nvSpPr>
          <p:cNvPr id="39" name="Shape 3"/>
          <p:cNvSpPr/>
          <p:nvPr/>
        </p:nvSpPr>
        <p:spPr>
          <a:xfrm>
            <a:off x="9376918" y="0"/>
            <a:ext cx="8942832" cy="960120"/>
          </a:xfrm>
          <a:prstGeom prst="rect">
            <a:avLst/>
          </a:prstGeom>
          <a:solidFill>
            <a:srgbClr val="1F4E99"/>
          </a:solidFill>
        </p:spPr>
      </p:sp>
      <p:sp>
        <p:nvSpPr>
          <p:cNvPr id="40" name="Text 4"/>
          <p:cNvSpPr/>
          <p:nvPr/>
        </p:nvSpPr>
        <p:spPr>
          <a:xfrm>
            <a:off x="9559798" y="0"/>
            <a:ext cx="85039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Introduction to Facebook</a:t>
            </a:r>
            <a:endParaRPr lang="en-US" sz="3000" dirty="0"/>
          </a:p>
        </p:txBody>
      </p:sp>
      <p:sp>
        <p:nvSpPr>
          <p:cNvPr id="41" name="Shape 5"/>
          <p:cNvSpPr/>
          <p:nvPr/>
        </p:nvSpPr>
        <p:spPr>
          <a:xfrm>
            <a:off x="9323070" y="970280"/>
            <a:ext cx="5029200" cy="749808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6"/>
          <p:cNvSpPr/>
          <p:nvPr/>
        </p:nvSpPr>
        <p:spPr>
          <a:xfrm>
            <a:off x="9323070" y="970280"/>
            <a:ext cx="54864" cy="749808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43" name="Text 7"/>
          <p:cNvSpPr/>
          <p:nvPr/>
        </p:nvSpPr>
        <p:spPr>
          <a:xfrm>
            <a:off x="9414510" y="970280"/>
            <a:ext cx="59436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🏛️</a:t>
            </a:r>
            <a:endParaRPr lang="en-US" sz="2400" dirty="0"/>
          </a:p>
        </p:txBody>
      </p:sp>
      <p:sp>
        <p:nvSpPr>
          <p:cNvPr id="44" name="Text 8"/>
          <p:cNvSpPr/>
          <p:nvPr/>
        </p:nvSpPr>
        <p:spPr>
          <a:xfrm>
            <a:off x="10054590" y="970280"/>
            <a:ext cx="420624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</a:rPr>
              <a:t>Founded in 2004 by Mark Zuckerberg at Harvard University</a:t>
            </a:r>
            <a:endParaRPr lang="en-US" sz="1500" dirty="0"/>
          </a:p>
        </p:txBody>
      </p:sp>
      <p:sp>
        <p:nvSpPr>
          <p:cNvPr id="45" name="Shape 9"/>
          <p:cNvSpPr/>
          <p:nvPr/>
        </p:nvSpPr>
        <p:spPr>
          <a:xfrm>
            <a:off x="9323070" y="1884680"/>
            <a:ext cx="5029200" cy="749808"/>
          </a:xfrm>
          <a:prstGeom prst="rect">
            <a:avLst/>
          </a:prstGeom>
          <a:solidFill>
            <a:srgbClr val="E8EEF9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Shape 10"/>
          <p:cNvSpPr/>
          <p:nvPr/>
        </p:nvSpPr>
        <p:spPr>
          <a:xfrm>
            <a:off x="9323070" y="1884680"/>
            <a:ext cx="54864" cy="749808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47" name="Text 11"/>
          <p:cNvSpPr/>
          <p:nvPr/>
        </p:nvSpPr>
        <p:spPr>
          <a:xfrm>
            <a:off x="9414510" y="1884680"/>
            <a:ext cx="59436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48" name="Text 12"/>
          <p:cNvSpPr/>
          <p:nvPr/>
        </p:nvSpPr>
        <p:spPr>
          <a:xfrm>
            <a:off x="10054590" y="1884680"/>
            <a:ext cx="420624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</a:rPr>
              <a:t>Became one of the largest social media platforms in the world</a:t>
            </a:r>
            <a:endParaRPr lang="en-US" sz="1500" dirty="0"/>
          </a:p>
        </p:txBody>
      </p:sp>
      <p:sp>
        <p:nvSpPr>
          <p:cNvPr id="49" name="Shape 13"/>
          <p:cNvSpPr/>
          <p:nvPr/>
        </p:nvSpPr>
        <p:spPr>
          <a:xfrm>
            <a:off x="9323070" y="2799080"/>
            <a:ext cx="5029200" cy="749808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Shape 14"/>
          <p:cNvSpPr/>
          <p:nvPr/>
        </p:nvSpPr>
        <p:spPr>
          <a:xfrm>
            <a:off x="9323070" y="2799080"/>
            <a:ext cx="54864" cy="749808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51" name="Text 15"/>
          <p:cNvSpPr/>
          <p:nvPr/>
        </p:nvSpPr>
        <p:spPr>
          <a:xfrm>
            <a:off x="9414510" y="2799080"/>
            <a:ext cx="59436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♾️</a:t>
            </a:r>
            <a:endParaRPr lang="en-US" sz="2400" dirty="0"/>
          </a:p>
        </p:txBody>
      </p:sp>
      <p:sp>
        <p:nvSpPr>
          <p:cNvPr id="52" name="Text 16"/>
          <p:cNvSpPr/>
          <p:nvPr/>
        </p:nvSpPr>
        <p:spPr>
          <a:xfrm>
            <a:off x="10054590" y="2799080"/>
            <a:ext cx="420624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D1B2A"/>
                </a:solidFill>
              </a:rPr>
              <a:t>Rebranded to Meta Platforms in 2021</a:t>
            </a:r>
            <a:endParaRPr lang="en-US" sz="1500" dirty="0"/>
          </a:p>
        </p:txBody>
      </p:sp>
      <p:sp>
        <p:nvSpPr>
          <p:cNvPr id="53" name="Shape 0"/>
          <p:cNvSpPr/>
          <p:nvPr/>
        </p:nvSpPr>
        <p:spPr>
          <a:xfrm>
            <a:off x="-9079865" y="127000"/>
            <a:ext cx="201168" cy="514350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54" name="Shape 1"/>
          <p:cNvSpPr/>
          <p:nvPr/>
        </p:nvSpPr>
        <p:spPr>
          <a:xfrm>
            <a:off x="-9079865" y="5000752"/>
            <a:ext cx="9144000" cy="269748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55" name="Text 2"/>
          <p:cNvSpPr/>
          <p:nvPr/>
        </p:nvSpPr>
        <p:spPr>
          <a:xfrm>
            <a:off x="-1398905" y="5009896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DB0"/>
                </a:solidFill>
              </a:rPr>
              <a:t>4 / 12</a:t>
            </a:r>
            <a:endParaRPr lang="en-US" sz="1000" dirty="0"/>
          </a:p>
        </p:txBody>
      </p:sp>
      <p:sp>
        <p:nvSpPr>
          <p:cNvPr id="56" name="Shape 3"/>
          <p:cNvSpPr/>
          <p:nvPr/>
        </p:nvSpPr>
        <p:spPr>
          <a:xfrm>
            <a:off x="-8878697" y="127000"/>
            <a:ext cx="8942832" cy="96012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57" name="Text 4"/>
          <p:cNvSpPr/>
          <p:nvPr/>
        </p:nvSpPr>
        <p:spPr>
          <a:xfrm>
            <a:off x="-8695817" y="127000"/>
            <a:ext cx="85039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⚠️  Cambridge Analytica Scandal</a:t>
            </a:r>
            <a:endParaRPr lang="en-US" sz="3000" dirty="0"/>
          </a:p>
        </p:txBody>
      </p:sp>
      <p:sp>
        <p:nvSpPr>
          <p:cNvPr id="58" name="Shape 5"/>
          <p:cNvSpPr/>
          <p:nvPr/>
        </p:nvSpPr>
        <p:spPr>
          <a:xfrm>
            <a:off x="-8932545" y="1078992"/>
            <a:ext cx="1005840" cy="73152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59" name="Text 6"/>
          <p:cNvSpPr/>
          <p:nvPr/>
        </p:nvSpPr>
        <p:spPr>
          <a:xfrm>
            <a:off x="-8932545" y="1078992"/>
            <a:ext cx="10058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2014</a:t>
            </a:r>
            <a:endParaRPr lang="en-US" sz="1700" dirty="0"/>
          </a:p>
        </p:txBody>
      </p:sp>
      <p:sp>
        <p:nvSpPr>
          <p:cNvPr id="60" name="Text 7"/>
          <p:cNvSpPr/>
          <p:nvPr/>
        </p:nvSpPr>
        <p:spPr>
          <a:xfrm>
            <a:off x="-7835265" y="1078992"/>
            <a:ext cx="502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61" name="Shape 8"/>
          <p:cNvSpPr/>
          <p:nvPr/>
        </p:nvSpPr>
        <p:spPr>
          <a:xfrm>
            <a:off x="-7286625" y="1078992"/>
            <a:ext cx="6949440" cy="7315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2" name="Text 9"/>
          <p:cNvSpPr/>
          <p:nvPr/>
        </p:nvSpPr>
        <p:spPr>
          <a:xfrm>
            <a:off x="-7149465" y="1078992"/>
            <a:ext cx="6766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A quiz app ('thisisyourdigitallife') published on Facebook by researcher Aleksandr Kogan.</a:t>
            </a:r>
            <a:endParaRPr lang="en-US" sz="1400" dirty="0"/>
          </a:p>
        </p:txBody>
      </p:sp>
      <p:sp>
        <p:nvSpPr>
          <p:cNvPr id="63" name="Shape 10"/>
          <p:cNvSpPr/>
          <p:nvPr/>
        </p:nvSpPr>
        <p:spPr>
          <a:xfrm>
            <a:off x="-8932545" y="2011680"/>
            <a:ext cx="1005840" cy="73152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64" name="Text 11"/>
          <p:cNvSpPr/>
          <p:nvPr/>
        </p:nvSpPr>
        <p:spPr>
          <a:xfrm>
            <a:off x="-8932545" y="2011680"/>
            <a:ext cx="10058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2015</a:t>
            </a:r>
            <a:endParaRPr lang="en-US" sz="1700" dirty="0"/>
          </a:p>
        </p:txBody>
      </p:sp>
      <p:sp>
        <p:nvSpPr>
          <p:cNvPr id="65" name="Text 12"/>
          <p:cNvSpPr/>
          <p:nvPr/>
        </p:nvSpPr>
        <p:spPr>
          <a:xfrm>
            <a:off x="-7835265" y="2011680"/>
            <a:ext cx="502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🗃️</a:t>
            </a:r>
            <a:endParaRPr lang="en-US" sz="2200" dirty="0"/>
          </a:p>
        </p:txBody>
      </p:sp>
      <p:sp>
        <p:nvSpPr>
          <p:cNvPr id="66" name="Shape 13"/>
          <p:cNvSpPr/>
          <p:nvPr/>
        </p:nvSpPr>
        <p:spPr>
          <a:xfrm>
            <a:off x="-7286625" y="2011680"/>
            <a:ext cx="6949440" cy="731520"/>
          </a:xfrm>
          <a:prstGeom prst="rect">
            <a:avLst/>
          </a:prstGeom>
          <a:solidFill>
            <a:srgbClr val="E8EEF9"/>
          </a:solidFill>
        </p:spPr>
      </p:sp>
      <p:sp>
        <p:nvSpPr>
          <p:cNvPr id="67" name="Text 14"/>
          <p:cNvSpPr/>
          <p:nvPr/>
        </p:nvSpPr>
        <p:spPr>
          <a:xfrm>
            <a:off x="-7149465" y="2011680"/>
            <a:ext cx="6766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App secretly harvested data from ~87 million users &amp; their friends without consent.</a:t>
            </a:r>
            <a:endParaRPr lang="en-US" sz="1400" dirty="0"/>
          </a:p>
        </p:txBody>
      </p:sp>
      <p:sp>
        <p:nvSpPr>
          <p:cNvPr id="68" name="Shape 15"/>
          <p:cNvSpPr/>
          <p:nvPr/>
        </p:nvSpPr>
        <p:spPr>
          <a:xfrm>
            <a:off x="-8932545" y="2944368"/>
            <a:ext cx="1005840" cy="73152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69" name="Text 16"/>
          <p:cNvSpPr/>
          <p:nvPr/>
        </p:nvSpPr>
        <p:spPr>
          <a:xfrm>
            <a:off x="-8932545" y="2944368"/>
            <a:ext cx="10058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2016</a:t>
            </a:r>
            <a:endParaRPr lang="en-US" sz="1700" dirty="0"/>
          </a:p>
        </p:txBody>
      </p:sp>
      <p:sp>
        <p:nvSpPr>
          <p:cNvPr id="70" name="Text 17"/>
          <p:cNvSpPr/>
          <p:nvPr/>
        </p:nvSpPr>
        <p:spPr>
          <a:xfrm>
            <a:off x="-7835265" y="2944368"/>
            <a:ext cx="502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🗳️</a:t>
            </a:r>
            <a:endParaRPr lang="en-US" sz="2200" dirty="0"/>
          </a:p>
        </p:txBody>
      </p:sp>
      <p:sp>
        <p:nvSpPr>
          <p:cNvPr id="71" name="Shape 18"/>
          <p:cNvSpPr/>
          <p:nvPr/>
        </p:nvSpPr>
        <p:spPr>
          <a:xfrm>
            <a:off x="-7286625" y="2944368"/>
            <a:ext cx="6949440" cy="7315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2" name="Text 19"/>
          <p:cNvSpPr/>
          <p:nvPr/>
        </p:nvSpPr>
        <p:spPr>
          <a:xfrm>
            <a:off x="-7149465" y="2944368"/>
            <a:ext cx="6766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Data shared with Cambridge Analytica for political ad targeting in US elections.</a:t>
            </a:r>
            <a:endParaRPr lang="en-US" sz="1400" dirty="0"/>
          </a:p>
        </p:txBody>
      </p:sp>
      <p:sp>
        <p:nvSpPr>
          <p:cNvPr id="73" name="Shape 20"/>
          <p:cNvSpPr/>
          <p:nvPr/>
        </p:nvSpPr>
        <p:spPr>
          <a:xfrm>
            <a:off x="-8932545" y="3877056"/>
            <a:ext cx="1005840" cy="73152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74" name="Text 21"/>
          <p:cNvSpPr/>
          <p:nvPr/>
        </p:nvSpPr>
        <p:spPr>
          <a:xfrm>
            <a:off x="-8932545" y="3877056"/>
            <a:ext cx="10058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2018</a:t>
            </a:r>
            <a:endParaRPr lang="en-US" sz="1700" dirty="0"/>
          </a:p>
        </p:txBody>
      </p:sp>
      <p:sp>
        <p:nvSpPr>
          <p:cNvPr id="75" name="Text 22"/>
          <p:cNvSpPr/>
          <p:nvPr/>
        </p:nvSpPr>
        <p:spPr>
          <a:xfrm>
            <a:off x="-7835265" y="3877056"/>
            <a:ext cx="502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📰</a:t>
            </a:r>
            <a:endParaRPr lang="en-US" sz="2200" dirty="0"/>
          </a:p>
        </p:txBody>
      </p:sp>
      <p:sp>
        <p:nvSpPr>
          <p:cNvPr id="76" name="Shape 23"/>
          <p:cNvSpPr/>
          <p:nvPr/>
        </p:nvSpPr>
        <p:spPr>
          <a:xfrm>
            <a:off x="-7286625" y="3877056"/>
            <a:ext cx="6949440" cy="731520"/>
          </a:xfrm>
          <a:prstGeom prst="rect">
            <a:avLst/>
          </a:prstGeom>
          <a:solidFill>
            <a:srgbClr val="E8EEF9"/>
          </a:solidFill>
        </p:spPr>
      </p:sp>
      <p:sp>
        <p:nvSpPr>
          <p:cNvPr id="77" name="Text 24"/>
          <p:cNvSpPr/>
          <p:nvPr/>
        </p:nvSpPr>
        <p:spPr>
          <a:xfrm>
            <a:off x="-7149465" y="3877056"/>
            <a:ext cx="6766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Scandal exposed publicly by The Guardian and The New York Times.</a:t>
            </a:r>
            <a:endParaRPr lang="en-US" sz="1400" dirty="0"/>
          </a:p>
        </p:txBody>
      </p:sp>
      <p:sp>
        <p:nvSpPr>
          <p:cNvPr id="78" name="Shape 0"/>
          <p:cNvSpPr/>
          <p:nvPr/>
        </p:nvSpPr>
        <p:spPr>
          <a:xfrm>
            <a:off x="9767570" y="127000"/>
            <a:ext cx="201168" cy="514350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79" name="Shape 1"/>
          <p:cNvSpPr/>
          <p:nvPr/>
        </p:nvSpPr>
        <p:spPr>
          <a:xfrm>
            <a:off x="9767570" y="5000752"/>
            <a:ext cx="9144000" cy="269748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80" name="Shape 3"/>
          <p:cNvSpPr/>
          <p:nvPr/>
        </p:nvSpPr>
        <p:spPr>
          <a:xfrm>
            <a:off x="9968738" y="127000"/>
            <a:ext cx="8942832" cy="96012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81" name="Text 4"/>
          <p:cNvSpPr/>
          <p:nvPr/>
        </p:nvSpPr>
        <p:spPr>
          <a:xfrm>
            <a:off x="10151618" y="127000"/>
            <a:ext cx="85039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⚠️  Cambridge Analytica Scandal</a:t>
            </a:r>
            <a:endParaRPr lang="en-US" sz="3000" dirty="0"/>
          </a:p>
        </p:txBody>
      </p:sp>
      <p:sp>
        <p:nvSpPr>
          <p:cNvPr id="82" name="Shape 5"/>
          <p:cNvSpPr/>
          <p:nvPr/>
        </p:nvSpPr>
        <p:spPr>
          <a:xfrm>
            <a:off x="9914890" y="1078992"/>
            <a:ext cx="1005840" cy="73152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83" name="Text 11"/>
          <p:cNvSpPr/>
          <p:nvPr/>
        </p:nvSpPr>
        <p:spPr>
          <a:xfrm>
            <a:off x="9914890" y="2011680"/>
            <a:ext cx="10058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2015</a:t>
            </a:r>
            <a:endParaRPr lang="en-US" sz="1700" dirty="0"/>
          </a:p>
        </p:txBody>
      </p:sp>
      <p:sp>
        <p:nvSpPr>
          <p:cNvPr id="84" name="Shape 15"/>
          <p:cNvSpPr/>
          <p:nvPr/>
        </p:nvSpPr>
        <p:spPr>
          <a:xfrm>
            <a:off x="9914890" y="2944368"/>
            <a:ext cx="1005840" cy="73152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85" name="Text 21"/>
          <p:cNvSpPr/>
          <p:nvPr/>
        </p:nvSpPr>
        <p:spPr>
          <a:xfrm>
            <a:off x="9914890" y="3877056"/>
            <a:ext cx="10058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2018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3" name="Shape 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4" name="Text 2"/>
          <p:cNvSpPr/>
          <p:nvPr/>
        </p:nvSpPr>
        <p:spPr>
          <a:xfrm>
            <a:off x="7680960" y="4882896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DB0"/>
                </a:solidFill>
              </a:rPr>
              <a:t>4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1168" y="0"/>
            <a:ext cx="8942832" cy="96012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6" name="Text 4"/>
          <p:cNvSpPr/>
          <p:nvPr/>
        </p:nvSpPr>
        <p:spPr>
          <a:xfrm>
            <a:off x="384048" y="0"/>
            <a:ext cx="85039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⚠️  Cambridge Analytica Scandal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1005840" cy="73152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8" name="Text 6"/>
          <p:cNvSpPr/>
          <p:nvPr/>
        </p:nvSpPr>
        <p:spPr>
          <a:xfrm>
            <a:off x="274320" y="1078992"/>
            <a:ext cx="10058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2014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71600" y="1078992"/>
            <a:ext cx="502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920240" y="1078992"/>
            <a:ext cx="6949440" cy="7315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Text 9"/>
          <p:cNvSpPr/>
          <p:nvPr/>
        </p:nvSpPr>
        <p:spPr>
          <a:xfrm>
            <a:off x="2057400" y="1078992"/>
            <a:ext cx="6766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A quiz app ('thisisyourdigitallife') published on Facebook by researcher Aleksandr Kogan.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1005840" cy="73152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13" name="Text 11"/>
          <p:cNvSpPr/>
          <p:nvPr/>
        </p:nvSpPr>
        <p:spPr>
          <a:xfrm>
            <a:off x="274320" y="2011680"/>
            <a:ext cx="10058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2015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71600" y="2011680"/>
            <a:ext cx="502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🗃️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920240" y="2011680"/>
            <a:ext cx="6949440" cy="731520"/>
          </a:xfrm>
          <a:prstGeom prst="rect">
            <a:avLst/>
          </a:prstGeom>
          <a:solidFill>
            <a:srgbClr val="E8EEF9"/>
          </a:solidFill>
        </p:spPr>
      </p:sp>
      <p:sp>
        <p:nvSpPr>
          <p:cNvPr id="16" name="Text 14"/>
          <p:cNvSpPr/>
          <p:nvPr/>
        </p:nvSpPr>
        <p:spPr>
          <a:xfrm>
            <a:off x="2057400" y="2011680"/>
            <a:ext cx="6766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App secretly harvested data from ~87 million users &amp; their friends without consent.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2944368"/>
            <a:ext cx="1005840" cy="73152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18" name="Text 16"/>
          <p:cNvSpPr/>
          <p:nvPr/>
        </p:nvSpPr>
        <p:spPr>
          <a:xfrm>
            <a:off x="274320" y="2944368"/>
            <a:ext cx="10058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2016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71600" y="2944368"/>
            <a:ext cx="502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🗳️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920240" y="2944368"/>
            <a:ext cx="6949440" cy="7315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2057400" y="2944368"/>
            <a:ext cx="6766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Data shared with Cambridge Analytica for political ad targeting in US elections.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" y="3877056"/>
            <a:ext cx="1005840" cy="73152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23" name="Text 21"/>
          <p:cNvSpPr/>
          <p:nvPr/>
        </p:nvSpPr>
        <p:spPr>
          <a:xfrm>
            <a:off x="274320" y="3877056"/>
            <a:ext cx="10058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2018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371600" y="3877056"/>
            <a:ext cx="502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📰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1920240" y="3877056"/>
            <a:ext cx="6949440" cy="731520"/>
          </a:xfrm>
          <a:prstGeom prst="rect">
            <a:avLst/>
          </a:prstGeom>
          <a:solidFill>
            <a:srgbClr val="E8EEF9"/>
          </a:solidFill>
        </p:spPr>
      </p:sp>
      <p:sp>
        <p:nvSpPr>
          <p:cNvPr id="26" name="Text 24"/>
          <p:cNvSpPr/>
          <p:nvPr/>
        </p:nvSpPr>
        <p:spPr>
          <a:xfrm>
            <a:off x="2057400" y="3877056"/>
            <a:ext cx="6766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Scandal exposed publicly by The Guardian and The New York Times.</a:t>
            </a:r>
            <a:endParaRPr lang="en-US" sz="1400" dirty="0"/>
          </a:p>
        </p:txBody>
      </p:sp>
      <p:sp>
        <p:nvSpPr>
          <p:cNvPr id="27" name="Shape 0"/>
          <p:cNvSpPr/>
          <p:nvPr/>
        </p:nvSpPr>
        <p:spPr>
          <a:xfrm>
            <a:off x="-9050655" y="127000"/>
            <a:ext cx="201168" cy="514350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28" name="Shape 1"/>
          <p:cNvSpPr/>
          <p:nvPr/>
        </p:nvSpPr>
        <p:spPr>
          <a:xfrm>
            <a:off x="-9050655" y="5000752"/>
            <a:ext cx="9144000" cy="269748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29" name="Text 2"/>
          <p:cNvSpPr/>
          <p:nvPr/>
        </p:nvSpPr>
        <p:spPr>
          <a:xfrm>
            <a:off x="-1369695" y="5009896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DB0"/>
                </a:solidFill>
              </a:rPr>
              <a:t>5 / 12</a:t>
            </a:r>
            <a:endParaRPr lang="en-US" sz="1000" dirty="0"/>
          </a:p>
        </p:txBody>
      </p:sp>
      <p:sp>
        <p:nvSpPr>
          <p:cNvPr id="30" name="Shape 3"/>
          <p:cNvSpPr/>
          <p:nvPr/>
        </p:nvSpPr>
        <p:spPr>
          <a:xfrm>
            <a:off x="-8849487" y="127000"/>
            <a:ext cx="8942832" cy="960120"/>
          </a:xfrm>
          <a:prstGeom prst="rect">
            <a:avLst/>
          </a:prstGeom>
          <a:solidFill>
            <a:srgbClr val="1F4E99"/>
          </a:solidFill>
        </p:spPr>
      </p:sp>
      <p:sp>
        <p:nvSpPr>
          <p:cNvPr id="31" name="Text 4"/>
          <p:cNvSpPr/>
          <p:nvPr/>
        </p:nvSpPr>
        <p:spPr>
          <a:xfrm>
            <a:off x="-8666607" y="127000"/>
            <a:ext cx="85039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Types of Data Collected</a:t>
            </a:r>
            <a:endParaRPr lang="en-US" sz="3000" dirty="0"/>
          </a:p>
        </p:txBody>
      </p:sp>
      <p:sp>
        <p:nvSpPr>
          <p:cNvPr id="32" name="Shape 5"/>
          <p:cNvSpPr/>
          <p:nvPr/>
        </p:nvSpPr>
        <p:spPr>
          <a:xfrm>
            <a:off x="-8903335" y="1051560"/>
            <a:ext cx="4114800" cy="1627632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6"/>
          <p:cNvSpPr/>
          <p:nvPr/>
        </p:nvSpPr>
        <p:spPr>
          <a:xfrm>
            <a:off x="-8903335" y="1051560"/>
            <a:ext cx="4114800" cy="475488"/>
          </a:xfrm>
          <a:prstGeom prst="rect">
            <a:avLst/>
          </a:prstGeom>
          <a:solidFill>
            <a:srgbClr val="1F4E99"/>
          </a:solidFill>
        </p:spPr>
      </p:sp>
      <p:sp>
        <p:nvSpPr>
          <p:cNvPr id="34" name="Text 7"/>
          <p:cNvSpPr/>
          <p:nvPr/>
        </p:nvSpPr>
        <p:spPr>
          <a:xfrm>
            <a:off x="-8903335" y="1051560"/>
            <a:ext cx="4114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👤  Personal Info</a:t>
            </a:r>
            <a:endParaRPr lang="en-US" sz="1500" dirty="0"/>
          </a:p>
        </p:txBody>
      </p:sp>
      <p:sp>
        <p:nvSpPr>
          <p:cNvPr id="35" name="Shape 8"/>
          <p:cNvSpPr/>
          <p:nvPr/>
        </p:nvSpPr>
        <p:spPr>
          <a:xfrm>
            <a:off x="648843" y="5499100"/>
            <a:ext cx="164592" cy="164592"/>
          </a:xfrm>
          <a:prstGeom prst="ellipse">
            <a:avLst/>
          </a:prstGeom>
          <a:solidFill>
            <a:srgbClr val="1F4E99"/>
          </a:solidFill>
        </p:spPr>
      </p:sp>
      <p:sp>
        <p:nvSpPr>
          <p:cNvPr id="36" name="Text 9"/>
          <p:cNvSpPr/>
          <p:nvPr/>
        </p:nvSpPr>
        <p:spPr>
          <a:xfrm>
            <a:off x="904875" y="5453380"/>
            <a:ext cx="3520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Names</a:t>
            </a:r>
            <a:endParaRPr lang="en-US" sz="1400" dirty="0"/>
          </a:p>
        </p:txBody>
      </p:sp>
      <p:sp>
        <p:nvSpPr>
          <p:cNvPr id="37" name="Shape 10"/>
          <p:cNvSpPr/>
          <p:nvPr/>
        </p:nvSpPr>
        <p:spPr>
          <a:xfrm>
            <a:off x="648843" y="6011164"/>
            <a:ext cx="164592" cy="164592"/>
          </a:xfrm>
          <a:prstGeom prst="ellipse">
            <a:avLst/>
          </a:prstGeom>
          <a:solidFill>
            <a:srgbClr val="1F4E99"/>
          </a:solidFill>
        </p:spPr>
      </p:sp>
      <p:sp>
        <p:nvSpPr>
          <p:cNvPr id="38" name="Text 11"/>
          <p:cNvSpPr/>
          <p:nvPr/>
        </p:nvSpPr>
        <p:spPr>
          <a:xfrm>
            <a:off x="904875" y="5965444"/>
            <a:ext cx="3520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Age &amp; Demographics</a:t>
            </a:r>
            <a:endParaRPr lang="en-US" sz="1400" dirty="0"/>
          </a:p>
        </p:txBody>
      </p:sp>
      <p:sp>
        <p:nvSpPr>
          <p:cNvPr id="39" name="Shape 12"/>
          <p:cNvSpPr/>
          <p:nvPr/>
        </p:nvSpPr>
        <p:spPr>
          <a:xfrm>
            <a:off x="-4468495" y="1051560"/>
            <a:ext cx="4114800" cy="1627632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13"/>
          <p:cNvSpPr/>
          <p:nvPr/>
        </p:nvSpPr>
        <p:spPr>
          <a:xfrm>
            <a:off x="-4468495" y="1051560"/>
            <a:ext cx="4114800" cy="475488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41" name="Text 14"/>
          <p:cNvSpPr/>
          <p:nvPr/>
        </p:nvSpPr>
        <p:spPr>
          <a:xfrm>
            <a:off x="-4468495" y="1051560"/>
            <a:ext cx="4114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👥  Social Data</a:t>
            </a:r>
            <a:endParaRPr lang="en-US" sz="1500" dirty="0"/>
          </a:p>
        </p:txBody>
      </p:sp>
      <p:sp>
        <p:nvSpPr>
          <p:cNvPr id="42" name="Shape 15"/>
          <p:cNvSpPr/>
          <p:nvPr/>
        </p:nvSpPr>
        <p:spPr>
          <a:xfrm>
            <a:off x="5083683" y="5499100"/>
            <a:ext cx="164592" cy="164592"/>
          </a:xfrm>
          <a:prstGeom prst="ellipse">
            <a:avLst/>
          </a:prstGeom>
          <a:solidFill>
            <a:srgbClr val="B71C1C"/>
          </a:solidFill>
        </p:spPr>
      </p:sp>
      <p:sp>
        <p:nvSpPr>
          <p:cNvPr id="43" name="Text 16"/>
          <p:cNvSpPr/>
          <p:nvPr/>
        </p:nvSpPr>
        <p:spPr>
          <a:xfrm>
            <a:off x="5339715" y="5453380"/>
            <a:ext cx="3520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Friend Lists</a:t>
            </a:r>
            <a:endParaRPr lang="en-US" sz="1400" dirty="0"/>
          </a:p>
        </p:txBody>
      </p:sp>
      <p:sp>
        <p:nvSpPr>
          <p:cNvPr id="44" name="Shape 17"/>
          <p:cNvSpPr/>
          <p:nvPr/>
        </p:nvSpPr>
        <p:spPr>
          <a:xfrm>
            <a:off x="5083683" y="6011164"/>
            <a:ext cx="164592" cy="164592"/>
          </a:xfrm>
          <a:prstGeom prst="ellipse">
            <a:avLst/>
          </a:prstGeom>
          <a:solidFill>
            <a:srgbClr val="B71C1C"/>
          </a:solidFill>
        </p:spPr>
      </p:sp>
      <p:sp>
        <p:nvSpPr>
          <p:cNvPr id="45" name="Text 18"/>
          <p:cNvSpPr/>
          <p:nvPr/>
        </p:nvSpPr>
        <p:spPr>
          <a:xfrm>
            <a:off x="5339715" y="5965444"/>
            <a:ext cx="3520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Group Memberships</a:t>
            </a:r>
            <a:endParaRPr lang="en-US" sz="1400" dirty="0"/>
          </a:p>
        </p:txBody>
      </p:sp>
      <p:sp>
        <p:nvSpPr>
          <p:cNvPr id="46" name="Shape 19"/>
          <p:cNvSpPr/>
          <p:nvPr/>
        </p:nvSpPr>
        <p:spPr>
          <a:xfrm>
            <a:off x="-8903335" y="2880360"/>
            <a:ext cx="4114800" cy="1627632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20"/>
          <p:cNvSpPr/>
          <p:nvPr/>
        </p:nvSpPr>
        <p:spPr>
          <a:xfrm>
            <a:off x="-8903335" y="2880360"/>
            <a:ext cx="4114800" cy="475488"/>
          </a:xfrm>
          <a:prstGeom prst="rect">
            <a:avLst/>
          </a:prstGeom>
          <a:solidFill>
            <a:srgbClr val="E65100"/>
          </a:solidFill>
        </p:spPr>
      </p:sp>
      <p:sp>
        <p:nvSpPr>
          <p:cNvPr id="48" name="Text 21"/>
          <p:cNvSpPr/>
          <p:nvPr/>
        </p:nvSpPr>
        <p:spPr>
          <a:xfrm>
            <a:off x="-8903335" y="2880360"/>
            <a:ext cx="4114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🖱️  Behavioral Data</a:t>
            </a:r>
            <a:endParaRPr lang="en-US" sz="1500" dirty="0"/>
          </a:p>
        </p:txBody>
      </p:sp>
      <p:sp>
        <p:nvSpPr>
          <p:cNvPr id="49" name="Shape 22"/>
          <p:cNvSpPr/>
          <p:nvPr/>
        </p:nvSpPr>
        <p:spPr>
          <a:xfrm>
            <a:off x="648843" y="7327900"/>
            <a:ext cx="164592" cy="164592"/>
          </a:xfrm>
          <a:prstGeom prst="ellipse">
            <a:avLst/>
          </a:prstGeom>
          <a:solidFill>
            <a:srgbClr val="E65100"/>
          </a:solidFill>
        </p:spPr>
      </p:sp>
      <p:sp>
        <p:nvSpPr>
          <p:cNvPr id="50" name="Text 23"/>
          <p:cNvSpPr/>
          <p:nvPr/>
        </p:nvSpPr>
        <p:spPr>
          <a:xfrm>
            <a:off x="904875" y="7282180"/>
            <a:ext cx="3520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Likes &amp; Interests</a:t>
            </a:r>
            <a:endParaRPr lang="en-US" sz="1400" dirty="0"/>
          </a:p>
        </p:txBody>
      </p:sp>
      <p:sp>
        <p:nvSpPr>
          <p:cNvPr id="51" name="Shape 24"/>
          <p:cNvSpPr/>
          <p:nvPr/>
        </p:nvSpPr>
        <p:spPr>
          <a:xfrm>
            <a:off x="648843" y="7839964"/>
            <a:ext cx="164592" cy="164592"/>
          </a:xfrm>
          <a:prstGeom prst="ellipse">
            <a:avLst/>
          </a:prstGeom>
          <a:solidFill>
            <a:srgbClr val="E65100"/>
          </a:solidFill>
        </p:spPr>
      </p:sp>
      <p:sp>
        <p:nvSpPr>
          <p:cNvPr id="52" name="Text 25"/>
          <p:cNvSpPr/>
          <p:nvPr/>
        </p:nvSpPr>
        <p:spPr>
          <a:xfrm>
            <a:off x="904875" y="7794244"/>
            <a:ext cx="3520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Online Activity</a:t>
            </a:r>
            <a:endParaRPr lang="en-US" sz="1400" dirty="0"/>
          </a:p>
        </p:txBody>
      </p:sp>
      <p:sp>
        <p:nvSpPr>
          <p:cNvPr id="53" name="Shape 26"/>
          <p:cNvSpPr/>
          <p:nvPr/>
        </p:nvSpPr>
        <p:spPr>
          <a:xfrm>
            <a:off x="-4468495" y="2880360"/>
            <a:ext cx="4114800" cy="1627632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Shape 27"/>
          <p:cNvSpPr/>
          <p:nvPr/>
        </p:nvSpPr>
        <p:spPr>
          <a:xfrm>
            <a:off x="-4468495" y="2880360"/>
            <a:ext cx="4114800" cy="475488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55" name="Text 28"/>
          <p:cNvSpPr/>
          <p:nvPr/>
        </p:nvSpPr>
        <p:spPr>
          <a:xfrm>
            <a:off x="-4468495" y="2880360"/>
            <a:ext cx="4114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🔒  Sensitive Data</a:t>
            </a:r>
            <a:endParaRPr lang="en-US" sz="1500" dirty="0"/>
          </a:p>
        </p:txBody>
      </p:sp>
      <p:sp>
        <p:nvSpPr>
          <p:cNvPr id="56" name="Shape 29"/>
          <p:cNvSpPr/>
          <p:nvPr/>
        </p:nvSpPr>
        <p:spPr>
          <a:xfrm>
            <a:off x="5083683" y="7327900"/>
            <a:ext cx="164592" cy="164592"/>
          </a:xfrm>
          <a:prstGeom prst="ellipse">
            <a:avLst/>
          </a:prstGeom>
          <a:solidFill>
            <a:srgbClr val="4A148C"/>
          </a:solidFill>
        </p:spPr>
      </p:sp>
      <p:sp>
        <p:nvSpPr>
          <p:cNvPr id="57" name="Text 30"/>
          <p:cNvSpPr/>
          <p:nvPr/>
        </p:nvSpPr>
        <p:spPr>
          <a:xfrm>
            <a:off x="5339715" y="7282180"/>
            <a:ext cx="3520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Political Preferences</a:t>
            </a:r>
            <a:endParaRPr lang="en-US" sz="1400" dirty="0"/>
          </a:p>
        </p:txBody>
      </p:sp>
      <p:sp>
        <p:nvSpPr>
          <p:cNvPr id="58" name="Shape 31"/>
          <p:cNvSpPr/>
          <p:nvPr/>
        </p:nvSpPr>
        <p:spPr>
          <a:xfrm>
            <a:off x="5083683" y="7839964"/>
            <a:ext cx="164592" cy="164592"/>
          </a:xfrm>
          <a:prstGeom prst="ellipse">
            <a:avLst/>
          </a:prstGeom>
          <a:solidFill>
            <a:srgbClr val="4A148C"/>
          </a:solidFill>
        </p:spPr>
      </p:sp>
      <p:sp>
        <p:nvSpPr>
          <p:cNvPr id="59" name="Text 32"/>
          <p:cNvSpPr/>
          <p:nvPr/>
        </p:nvSpPr>
        <p:spPr>
          <a:xfrm>
            <a:off x="5339715" y="7794244"/>
            <a:ext cx="3520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Location Info</a:t>
            </a:r>
            <a:endParaRPr lang="en-US" sz="1400" dirty="0"/>
          </a:p>
        </p:txBody>
      </p:sp>
      <p:sp>
        <p:nvSpPr>
          <p:cNvPr id="60" name="Text 33"/>
          <p:cNvSpPr/>
          <p:nvPr/>
        </p:nvSpPr>
        <p:spPr>
          <a:xfrm>
            <a:off x="-8903335" y="4617720"/>
            <a:ext cx="8595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B8DB0"/>
                </a:solidFill>
              </a:rPr>
              <a:t>🎯 Used for political advertising and targeted voter manipulation.</a:t>
            </a:r>
            <a:endParaRPr lang="en-US" sz="1100" dirty="0"/>
          </a:p>
        </p:txBody>
      </p:sp>
      <p:sp>
        <p:nvSpPr>
          <p:cNvPr id="61" name="Text 7"/>
          <p:cNvSpPr/>
          <p:nvPr/>
        </p:nvSpPr>
        <p:spPr>
          <a:xfrm>
            <a:off x="-7577455" y="6222492"/>
            <a:ext cx="502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62" name="Shape 8"/>
          <p:cNvSpPr/>
          <p:nvPr/>
        </p:nvSpPr>
        <p:spPr>
          <a:xfrm>
            <a:off x="-7028815" y="6222492"/>
            <a:ext cx="6949440" cy="7315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3" name="Text 9"/>
          <p:cNvSpPr/>
          <p:nvPr/>
        </p:nvSpPr>
        <p:spPr>
          <a:xfrm>
            <a:off x="-6891655" y="6222492"/>
            <a:ext cx="6766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A quiz app ('thisisyourdigitallife') published on Facebook by researcher Aleksandr Kogan.</a:t>
            </a:r>
            <a:endParaRPr lang="en-US" sz="1400" dirty="0"/>
          </a:p>
        </p:txBody>
      </p:sp>
      <p:sp>
        <p:nvSpPr>
          <p:cNvPr id="65" name="Text 12"/>
          <p:cNvSpPr/>
          <p:nvPr/>
        </p:nvSpPr>
        <p:spPr>
          <a:xfrm>
            <a:off x="-7577455" y="7155180"/>
            <a:ext cx="502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🗃️</a:t>
            </a:r>
            <a:endParaRPr lang="en-US" sz="2200" dirty="0"/>
          </a:p>
        </p:txBody>
      </p:sp>
      <p:sp>
        <p:nvSpPr>
          <p:cNvPr id="66" name="Shape 13"/>
          <p:cNvSpPr/>
          <p:nvPr/>
        </p:nvSpPr>
        <p:spPr>
          <a:xfrm>
            <a:off x="-7028815" y="7155180"/>
            <a:ext cx="6949440" cy="731520"/>
          </a:xfrm>
          <a:prstGeom prst="rect">
            <a:avLst/>
          </a:prstGeom>
          <a:solidFill>
            <a:srgbClr val="E8EEF9"/>
          </a:solidFill>
        </p:spPr>
      </p:sp>
      <p:sp>
        <p:nvSpPr>
          <p:cNvPr id="67" name="Text 14"/>
          <p:cNvSpPr/>
          <p:nvPr/>
        </p:nvSpPr>
        <p:spPr>
          <a:xfrm>
            <a:off x="-6891655" y="7155180"/>
            <a:ext cx="6766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App secretly harvested data from ~87 million users &amp; their friends without consent.</a:t>
            </a:r>
            <a:endParaRPr lang="en-US" sz="1400" dirty="0"/>
          </a:p>
        </p:txBody>
      </p:sp>
      <p:sp>
        <p:nvSpPr>
          <p:cNvPr id="70" name="Text 17"/>
          <p:cNvSpPr/>
          <p:nvPr/>
        </p:nvSpPr>
        <p:spPr>
          <a:xfrm>
            <a:off x="-7577455" y="8087868"/>
            <a:ext cx="502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🗳️</a:t>
            </a:r>
            <a:endParaRPr lang="en-US" sz="2200" dirty="0"/>
          </a:p>
        </p:txBody>
      </p:sp>
      <p:sp>
        <p:nvSpPr>
          <p:cNvPr id="71" name="Shape 18"/>
          <p:cNvSpPr/>
          <p:nvPr/>
        </p:nvSpPr>
        <p:spPr>
          <a:xfrm>
            <a:off x="-7028815" y="8087868"/>
            <a:ext cx="6949440" cy="7315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2" name="Text 19"/>
          <p:cNvSpPr/>
          <p:nvPr/>
        </p:nvSpPr>
        <p:spPr>
          <a:xfrm>
            <a:off x="-6891655" y="8087868"/>
            <a:ext cx="6766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Data shared with Cambridge Analytica for political ad targeting in US elections.</a:t>
            </a:r>
            <a:endParaRPr lang="en-US" sz="1400" dirty="0"/>
          </a:p>
        </p:txBody>
      </p:sp>
      <p:sp>
        <p:nvSpPr>
          <p:cNvPr id="75" name="Text 22"/>
          <p:cNvSpPr/>
          <p:nvPr/>
        </p:nvSpPr>
        <p:spPr>
          <a:xfrm>
            <a:off x="-7577455" y="9020556"/>
            <a:ext cx="502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📰</a:t>
            </a:r>
            <a:endParaRPr lang="en-US" sz="2200" dirty="0"/>
          </a:p>
        </p:txBody>
      </p:sp>
      <p:sp>
        <p:nvSpPr>
          <p:cNvPr id="76" name="Shape 23"/>
          <p:cNvSpPr/>
          <p:nvPr/>
        </p:nvSpPr>
        <p:spPr>
          <a:xfrm>
            <a:off x="-7028815" y="9020556"/>
            <a:ext cx="6949440" cy="731520"/>
          </a:xfrm>
          <a:prstGeom prst="rect">
            <a:avLst/>
          </a:prstGeom>
          <a:solidFill>
            <a:srgbClr val="E8EEF9"/>
          </a:solidFill>
        </p:spPr>
      </p:sp>
      <p:sp>
        <p:nvSpPr>
          <p:cNvPr id="77" name="Text 24"/>
          <p:cNvSpPr/>
          <p:nvPr/>
        </p:nvSpPr>
        <p:spPr>
          <a:xfrm>
            <a:off x="-6891655" y="9020556"/>
            <a:ext cx="6766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Scandal exposed publicly by The Guardian and The New York Times.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3" name="Shape 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4" name="Text 2"/>
          <p:cNvSpPr/>
          <p:nvPr/>
        </p:nvSpPr>
        <p:spPr>
          <a:xfrm>
            <a:off x="7680960" y="4882896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DB0"/>
                </a:solidFill>
              </a:rPr>
              <a:t>5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1168" y="0"/>
            <a:ext cx="8942832" cy="960120"/>
          </a:xfrm>
          <a:prstGeom prst="rect">
            <a:avLst/>
          </a:prstGeom>
          <a:solidFill>
            <a:srgbClr val="1F4E99"/>
          </a:solidFill>
        </p:spPr>
      </p:sp>
      <p:sp>
        <p:nvSpPr>
          <p:cNvPr id="6" name="Text 4"/>
          <p:cNvSpPr/>
          <p:nvPr/>
        </p:nvSpPr>
        <p:spPr>
          <a:xfrm>
            <a:off x="384048" y="0"/>
            <a:ext cx="85039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Types of Data Collected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4114800" cy="1627632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51560"/>
            <a:ext cx="4114800" cy="475488"/>
          </a:xfrm>
          <a:prstGeom prst="rect">
            <a:avLst/>
          </a:prstGeom>
          <a:solidFill>
            <a:srgbClr val="1F4E99"/>
          </a:solidFill>
        </p:spPr>
      </p:sp>
      <p:sp>
        <p:nvSpPr>
          <p:cNvPr id="9" name="Text 7"/>
          <p:cNvSpPr/>
          <p:nvPr/>
        </p:nvSpPr>
        <p:spPr>
          <a:xfrm>
            <a:off x="274320" y="1051560"/>
            <a:ext cx="4114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👤  Personal Info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" y="1645920"/>
            <a:ext cx="164592" cy="164592"/>
          </a:xfrm>
          <a:prstGeom prst="ellipse">
            <a:avLst/>
          </a:prstGeom>
          <a:solidFill>
            <a:srgbClr val="1F4E99"/>
          </a:solidFill>
        </p:spPr>
      </p:sp>
      <p:sp>
        <p:nvSpPr>
          <p:cNvPr id="11" name="Text 9"/>
          <p:cNvSpPr/>
          <p:nvPr/>
        </p:nvSpPr>
        <p:spPr>
          <a:xfrm>
            <a:off x="731520" y="1600200"/>
            <a:ext cx="3520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Names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" y="2157984"/>
            <a:ext cx="164592" cy="164592"/>
          </a:xfrm>
          <a:prstGeom prst="ellipse">
            <a:avLst/>
          </a:prstGeom>
          <a:solidFill>
            <a:srgbClr val="1F4E99"/>
          </a:solidFill>
        </p:spPr>
      </p:sp>
      <p:sp>
        <p:nvSpPr>
          <p:cNvPr id="13" name="Text 11"/>
          <p:cNvSpPr/>
          <p:nvPr/>
        </p:nvSpPr>
        <p:spPr>
          <a:xfrm>
            <a:off x="731520" y="2112264"/>
            <a:ext cx="3520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Age &amp; Demographics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09160" y="1051560"/>
            <a:ext cx="4114800" cy="1627632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51560"/>
            <a:ext cx="4114800" cy="475488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16" name="Text 14"/>
          <p:cNvSpPr/>
          <p:nvPr/>
        </p:nvSpPr>
        <p:spPr>
          <a:xfrm>
            <a:off x="4709160" y="1051560"/>
            <a:ext cx="4114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👥  Social Data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910328" y="1645920"/>
            <a:ext cx="164592" cy="164592"/>
          </a:xfrm>
          <a:prstGeom prst="ellipse">
            <a:avLst/>
          </a:prstGeom>
          <a:solidFill>
            <a:srgbClr val="B71C1C"/>
          </a:solidFill>
        </p:spPr>
      </p:sp>
      <p:sp>
        <p:nvSpPr>
          <p:cNvPr id="18" name="Text 16"/>
          <p:cNvSpPr/>
          <p:nvPr/>
        </p:nvSpPr>
        <p:spPr>
          <a:xfrm>
            <a:off x="5166360" y="1600200"/>
            <a:ext cx="3520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Friend Lists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10328" y="2157984"/>
            <a:ext cx="164592" cy="164592"/>
          </a:xfrm>
          <a:prstGeom prst="ellipse">
            <a:avLst/>
          </a:prstGeom>
          <a:solidFill>
            <a:srgbClr val="B71C1C"/>
          </a:solidFill>
        </p:spPr>
      </p:sp>
      <p:sp>
        <p:nvSpPr>
          <p:cNvPr id="20" name="Text 18"/>
          <p:cNvSpPr/>
          <p:nvPr/>
        </p:nvSpPr>
        <p:spPr>
          <a:xfrm>
            <a:off x="5166360" y="2112264"/>
            <a:ext cx="3520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Group Memberships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2880360"/>
            <a:ext cx="4114800" cy="1627632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880360"/>
            <a:ext cx="4114800" cy="475488"/>
          </a:xfrm>
          <a:prstGeom prst="rect">
            <a:avLst/>
          </a:prstGeom>
          <a:solidFill>
            <a:srgbClr val="E65100"/>
          </a:solidFill>
        </p:spPr>
      </p:sp>
      <p:sp>
        <p:nvSpPr>
          <p:cNvPr id="23" name="Text 21"/>
          <p:cNvSpPr/>
          <p:nvPr/>
        </p:nvSpPr>
        <p:spPr>
          <a:xfrm>
            <a:off x="274320" y="2880360"/>
            <a:ext cx="4114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🖱️  Behavioral Data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75488" y="3474720"/>
            <a:ext cx="164592" cy="164592"/>
          </a:xfrm>
          <a:prstGeom prst="ellipse">
            <a:avLst/>
          </a:prstGeom>
          <a:solidFill>
            <a:srgbClr val="E65100"/>
          </a:solidFill>
        </p:spPr>
      </p:sp>
      <p:sp>
        <p:nvSpPr>
          <p:cNvPr id="25" name="Text 23"/>
          <p:cNvSpPr/>
          <p:nvPr/>
        </p:nvSpPr>
        <p:spPr>
          <a:xfrm>
            <a:off x="731520" y="3429000"/>
            <a:ext cx="3520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Likes &amp; Interests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5488" y="3986784"/>
            <a:ext cx="164592" cy="164592"/>
          </a:xfrm>
          <a:prstGeom prst="ellipse">
            <a:avLst/>
          </a:prstGeom>
          <a:solidFill>
            <a:srgbClr val="E65100"/>
          </a:solidFill>
        </p:spPr>
      </p:sp>
      <p:sp>
        <p:nvSpPr>
          <p:cNvPr id="27" name="Text 25"/>
          <p:cNvSpPr/>
          <p:nvPr/>
        </p:nvSpPr>
        <p:spPr>
          <a:xfrm>
            <a:off x="731520" y="3941064"/>
            <a:ext cx="3520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Online Activity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09160" y="2880360"/>
            <a:ext cx="4114800" cy="1627632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880360"/>
            <a:ext cx="4114800" cy="475488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30" name="Text 28"/>
          <p:cNvSpPr/>
          <p:nvPr/>
        </p:nvSpPr>
        <p:spPr>
          <a:xfrm>
            <a:off x="4709160" y="2880360"/>
            <a:ext cx="4114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🔒  Sensitive Data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910328" y="3474720"/>
            <a:ext cx="164592" cy="164592"/>
          </a:xfrm>
          <a:prstGeom prst="ellipse">
            <a:avLst/>
          </a:prstGeom>
          <a:solidFill>
            <a:srgbClr val="4A148C"/>
          </a:solidFill>
        </p:spPr>
      </p:sp>
      <p:sp>
        <p:nvSpPr>
          <p:cNvPr id="32" name="Text 30"/>
          <p:cNvSpPr/>
          <p:nvPr/>
        </p:nvSpPr>
        <p:spPr>
          <a:xfrm>
            <a:off x="5166360" y="3429000"/>
            <a:ext cx="3520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Political Preferences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910328" y="3986784"/>
            <a:ext cx="164592" cy="164592"/>
          </a:xfrm>
          <a:prstGeom prst="ellipse">
            <a:avLst/>
          </a:prstGeom>
          <a:solidFill>
            <a:srgbClr val="4A148C"/>
          </a:solidFill>
        </p:spPr>
      </p:sp>
      <p:sp>
        <p:nvSpPr>
          <p:cNvPr id="34" name="Text 32"/>
          <p:cNvSpPr/>
          <p:nvPr/>
        </p:nvSpPr>
        <p:spPr>
          <a:xfrm>
            <a:off x="5166360" y="3941064"/>
            <a:ext cx="3520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Location Info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74320" y="4617720"/>
            <a:ext cx="8595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B8DB0"/>
                </a:solidFill>
              </a:rPr>
              <a:t>🎯 Used for political advertising and targeted voter manipulation.</a:t>
            </a:r>
            <a:endParaRPr lang="en-US" sz="1100" dirty="0"/>
          </a:p>
        </p:txBody>
      </p:sp>
      <p:sp>
        <p:nvSpPr>
          <p:cNvPr id="60" name="Text 7"/>
          <p:cNvSpPr/>
          <p:nvPr/>
        </p:nvSpPr>
        <p:spPr>
          <a:xfrm>
            <a:off x="1600200" y="6222492"/>
            <a:ext cx="502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61" name="Shape 8"/>
          <p:cNvSpPr/>
          <p:nvPr/>
        </p:nvSpPr>
        <p:spPr>
          <a:xfrm>
            <a:off x="2148840" y="6222492"/>
            <a:ext cx="6949440" cy="7315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2" name="Text 9"/>
          <p:cNvSpPr/>
          <p:nvPr/>
        </p:nvSpPr>
        <p:spPr>
          <a:xfrm>
            <a:off x="2286000" y="6222492"/>
            <a:ext cx="6766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A quiz app ('thisisyourdigitallife') published on Facebook by researcher Aleksandr Kogan.</a:t>
            </a:r>
            <a:endParaRPr lang="en-US" sz="1400" dirty="0"/>
          </a:p>
        </p:txBody>
      </p:sp>
      <p:sp>
        <p:nvSpPr>
          <p:cNvPr id="65" name="Text 12"/>
          <p:cNvSpPr/>
          <p:nvPr/>
        </p:nvSpPr>
        <p:spPr>
          <a:xfrm>
            <a:off x="1600200" y="7155180"/>
            <a:ext cx="502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🗃️</a:t>
            </a:r>
            <a:endParaRPr lang="en-US" sz="2200" dirty="0"/>
          </a:p>
        </p:txBody>
      </p:sp>
      <p:sp>
        <p:nvSpPr>
          <p:cNvPr id="66" name="Shape 13"/>
          <p:cNvSpPr/>
          <p:nvPr/>
        </p:nvSpPr>
        <p:spPr>
          <a:xfrm>
            <a:off x="2148840" y="7155180"/>
            <a:ext cx="6949440" cy="731520"/>
          </a:xfrm>
          <a:prstGeom prst="rect">
            <a:avLst/>
          </a:prstGeom>
          <a:solidFill>
            <a:srgbClr val="E8EEF9"/>
          </a:solidFill>
        </p:spPr>
      </p:sp>
      <p:sp>
        <p:nvSpPr>
          <p:cNvPr id="67" name="Text 14"/>
          <p:cNvSpPr/>
          <p:nvPr/>
        </p:nvSpPr>
        <p:spPr>
          <a:xfrm>
            <a:off x="2286000" y="7155180"/>
            <a:ext cx="6766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App secretly harvested data from ~87 million users &amp; their friends without consent.</a:t>
            </a:r>
            <a:endParaRPr lang="en-US" sz="1400" dirty="0"/>
          </a:p>
        </p:txBody>
      </p:sp>
      <p:sp>
        <p:nvSpPr>
          <p:cNvPr id="70" name="Text 17"/>
          <p:cNvSpPr/>
          <p:nvPr/>
        </p:nvSpPr>
        <p:spPr>
          <a:xfrm>
            <a:off x="1600200" y="8087868"/>
            <a:ext cx="502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🗳️</a:t>
            </a:r>
            <a:endParaRPr lang="en-US" sz="2200" dirty="0"/>
          </a:p>
        </p:txBody>
      </p:sp>
      <p:sp>
        <p:nvSpPr>
          <p:cNvPr id="71" name="Shape 18"/>
          <p:cNvSpPr/>
          <p:nvPr/>
        </p:nvSpPr>
        <p:spPr>
          <a:xfrm>
            <a:off x="2148840" y="8087868"/>
            <a:ext cx="6949440" cy="7315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2" name="Text 19"/>
          <p:cNvSpPr/>
          <p:nvPr/>
        </p:nvSpPr>
        <p:spPr>
          <a:xfrm>
            <a:off x="2286000" y="8087868"/>
            <a:ext cx="6766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Data shared with Cambridge Analytica for political ad targeting in US elections.</a:t>
            </a:r>
            <a:endParaRPr lang="en-US" sz="1400" dirty="0"/>
          </a:p>
        </p:txBody>
      </p:sp>
      <p:sp>
        <p:nvSpPr>
          <p:cNvPr id="75" name="Text 22"/>
          <p:cNvSpPr/>
          <p:nvPr/>
        </p:nvSpPr>
        <p:spPr>
          <a:xfrm>
            <a:off x="1600200" y="9020556"/>
            <a:ext cx="502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📰</a:t>
            </a:r>
            <a:endParaRPr lang="en-US" sz="2200" dirty="0"/>
          </a:p>
        </p:txBody>
      </p:sp>
      <p:sp>
        <p:nvSpPr>
          <p:cNvPr id="76" name="Shape 23"/>
          <p:cNvSpPr/>
          <p:nvPr/>
        </p:nvSpPr>
        <p:spPr>
          <a:xfrm>
            <a:off x="2148840" y="9020556"/>
            <a:ext cx="6949440" cy="731520"/>
          </a:xfrm>
          <a:prstGeom prst="rect">
            <a:avLst/>
          </a:prstGeom>
          <a:solidFill>
            <a:srgbClr val="E8EEF9"/>
          </a:solidFill>
        </p:spPr>
      </p:sp>
      <p:sp>
        <p:nvSpPr>
          <p:cNvPr id="77" name="Text 24"/>
          <p:cNvSpPr/>
          <p:nvPr/>
        </p:nvSpPr>
        <p:spPr>
          <a:xfrm>
            <a:off x="2286000" y="9020556"/>
            <a:ext cx="67665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Scandal exposed publicly by The Guardian and The New York Times.</a:t>
            </a:r>
            <a:endParaRPr lang="en-US" sz="1400" dirty="0"/>
          </a:p>
        </p:txBody>
      </p:sp>
      <p:sp>
        <p:nvSpPr>
          <p:cNvPr id="36" name="Shape 0"/>
          <p:cNvSpPr/>
          <p:nvPr/>
        </p:nvSpPr>
        <p:spPr>
          <a:xfrm>
            <a:off x="11008360" y="127000"/>
            <a:ext cx="201168" cy="514350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37" name="Shape 1"/>
          <p:cNvSpPr/>
          <p:nvPr/>
        </p:nvSpPr>
        <p:spPr>
          <a:xfrm>
            <a:off x="11008360" y="5000752"/>
            <a:ext cx="9144000" cy="269748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8" name="Text 2"/>
          <p:cNvSpPr/>
          <p:nvPr/>
        </p:nvSpPr>
        <p:spPr>
          <a:xfrm>
            <a:off x="18689320" y="5009896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DB0"/>
                </a:solidFill>
              </a:rPr>
              <a:t>6 / 12</a:t>
            </a:r>
            <a:endParaRPr lang="en-US" sz="1000" dirty="0"/>
          </a:p>
        </p:txBody>
      </p:sp>
      <p:sp>
        <p:nvSpPr>
          <p:cNvPr id="39" name="Shape 3"/>
          <p:cNvSpPr/>
          <p:nvPr/>
        </p:nvSpPr>
        <p:spPr>
          <a:xfrm>
            <a:off x="11209528" y="127000"/>
            <a:ext cx="8942832" cy="960120"/>
          </a:xfrm>
          <a:prstGeom prst="rect">
            <a:avLst/>
          </a:prstGeom>
          <a:solidFill>
            <a:srgbClr val="1F4E99"/>
          </a:solidFill>
        </p:spPr>
      </p:sp>
      <p:sp>
        <p:nvSpPr>
          <p:cNvPr id="40" name="Text 4"/>
          <p:cNvSpPr/>
          <p:nvPr/>
        </p:nvSpPr>
        <p:spPr>
          <a:xfrm>
            <a:off x="11392408" y="127000"/>
            <a:ext cx="85039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Impact on Facebook</a:t>
            </a:r>
            <a:endParaRPr lang="en-US" sz="3000" dirty="0"/>
          </a:p>
        </p:txBody>
      </p:sp>
      <p:sp>
        <p:nvSpPr>
          <p:cNvPr id="41" name="Shape 5"/>
          <p:cNvSpPr/>
          <p:nvPr/>
        </p:nvSpPr>
        <p:spPr>
          <a:xfrm>
            <a:off x="11155680" y="1078992"/>
            <a:ext cx="8595360" cy="768096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6"/>
          <p:cNvSpPr/>
          <p:nvPr/>
        </p:nvSpPr>
        <p:spPr>
          <a:xfrm>
            <a:off x="11155680" y="1078992"/>
            <a:ext cx="54864" cy="768096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43" name="Shape 7"/>
          <p:cNvSpPr/>
          <p:nvPr/>
        </p:nvSpPr>
        <p:spPr>
          <a:xfrm>
            <a:off x="11210544" y="1078992"/>
            <a:ext cx="822960" cy="768096"/>
          </a:xfrm>
          <a:prstGeom prst="rect">
            <a:avLst/>
          </a:prstGeom>
          <a:solidFill>
            <a:srgbClr val="B71C1C">
              <a:alpha val="12000"/>
            </a:srgbClr>
          </a:solidFill>
        </p:spPr>
      </p:sp>
      <p:sp>
        <p:nvSpPr>
          <p:cNvPr id="44" name="Text 8"/>
          <p:cNvSpPr/>
          <p:nvPr/>
        </p:nvSpPr>
        <p:spPr>
          <a:xfrm>
            <a:off x="11210544" y="1078992"/>
            <a:ext cx="82296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💔</a:t>
            </a:r>
            <a:endParaRPr lang="en-US" sz="2600" dirty="0"/>
          </a:p>
        </p:txBody>
      </p:sp>
      <p:sp>
        <p:nvSpPr>
          <p:cNvPr id="45" name="Text 9"/>
          <p:cNvSpPr/>
          <p:nvPr/>
        </p:nvSpPr>
        <p:spPr>
          <a:xfrm>
            <a:off x="12088368" y="1115568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71C1C"/>
                </a:solidFill>
              </a:rPr>
              <a:t>Loss of Public Trust</a:t>
            </a:r>
            <a:endParaRPr lang="en-US" sz="1500" dirty="0"/>
          </a:p>
        </p:txBody>
      </p:sp>
      <p:sp>
        <p:nvSpPr>
          <p:cNvPr id="46" name="Text 10"/>
          <p:cNvSpPr/>
          <p:nvPr/>
        </p:nvSpPr>
        <p:spPr>
          <a:xfrm>
            <a:off x="12088368" y="1472184"/>
            <a:ext cx="7589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DB0"/>
                </a:solidFill>
              </a:rPr>
              <a:t>Users worldwide questioned Facebook's ability to protect their personal data</a:t>
            </a:r>
            <a:endParaRPr lang="en-US" sz="1200" dirty="0"/>
          </a:p>
        </p:txBody>
      </p:sp>
      <p:sp>
        <p:nvSpPr>
          <p:cNvPr id="47" name="Shape 11"/>
          <p:cNvSpPr/>
          <p:nvPr/>
        </p:nvSpPr>
        <p:spPr>
          <a:xfrm>
            <a:off x="11155680" y="1975104"/>
            <a:ext cx="8595360" cy="768096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Shape 12"/>
          <p:cNvSpPr/>
          <p:nvPr/>
        </p:nvSpPr>
        <p:spPr>
          <a:xfrm>
            <a:off x="11155680" y="1975104"/>
            <a:ext cx="54864" cy="768096"/>
          </a:xfrm>
          <a:prstGeom prst="rect">
            <a:avLst/>
          </a:prstGeom>
          <a:solidFill>
            <a:srgbClr val="E65100"/>
          </a:solidFill>
        </p:spPr>
      </p:sp>
      <p:sp>
        <p:nvSpPr>
          <p:cNvPr id="49" name="Shape 13"/>
          <p:cNvSpPr/>
          <p:nvPr/>
        </p:nvSpPr>
        <p:spPr>
          <a:xfrm>
            <a:off x="11210544" y="1975104"/>
            <a:ext cx="822960" cy="768096"/>
          </a:xfrm>
          <a:prstGeom prst="rect">
            <a:avLst/>
          </a:prstGeom>
          <a:solidFill>
            <a:srgbClr val="E65100">
              <a:alpha val="12000"/>
            </a:srgbClr>
          </a:solidFill>
        </p:spPr>
      </p:sp>
      <p:sp>
        <p:nvSpPr>
          <p:cNvPr id="50" name="Text 14"/>
          <p:cNvSpPr/>
          <p:nvPr/>
        </p:nvSpPr>
        <p:spPr>
          <a:xfrm>
            <a:off x="11210544" y="1975104"/>
            <a:ext cx="82296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51" name="Text 15"/>
          <p:cNvSpPr/>
          <p:nvPr/>
        </p:nvSpPr>
        <p:spPr>
          <a:xfrm>
            <a:off x="12088368" y="2011680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5100"/>
                </a:solidFill>
              </a:rPr>
              <a:t>Stock Price Dropped</a:t>
            </a:r>
            <a:endParaRPr lang="en-US" sz="1500" dirty="0"/>
          </a:p>
        </p:txBody>
      </p:sp>
      <p:sp>
        <p:nvSpPr>
          <p:cNvPr id="52" name="Text 16"/>
          <p:cNvSpPr/>
          <p:nvPr/>
        </p:nvSpPr>
        <p:spPr>
          <a:xfrm>
            <a:off x="12088368" y="2368296"/>
            <a:ext cx="7589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DB0"/>
                </a:solidFill>
              </a:rPr>
              <a:t>Facebook shares fell sharply within days of the scandal breaking publicly</a:t>
            </a:r>
            <a:endParaRPr lang="en-US" sz="1200" dirty="0"/>
          </a:p>
        </p:txBody>
      </p:sp>
      <p:sp>
        <p:nvSpPr>
          <p:cNvPr id="53" name="Shape 17"/>
          <p:cNvSpPr/>
          <p:nvPr/>
        </p:nvSpPr>
        <p:spPr>
          <a:xfrm>
            <a:off x="11155680" y="2871216"/>
            <a:ext cx="8595360" cy="768096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4" name="Shape 18"/>
          <p:cNvSpPr/>
          <p:nvPr/>
        </p:nvSpPr>
        <p:spPr>
          <a:xfrm>
            <a:off x="11155680" y="2871216"/>
            <a:ext cx="54864" cy="768096"/>
          </a:xfrm>
          <a:prstGeom prst="rect">
            <a:avLst/>
          </a:prstGeom>
          <a:solidFill>
            <a:srgbClr val="1F4E99"/>
          </a:solidFill>
        </p:spPr>
      </p:sp>
      <p:sp>
        <p:nvSpPr>
          <p:cNvPr id="55" name="Shape 19"/>
          <p:cNvSpPr/>
          <p:nvPr/>
        </p:nvSpPr>
        <p:spPr>
          <a:xfrm>
            <a:off x="11210544" y="2871216"/>
            <a:ext cx="822960" cy="768096"/>
          </a:xfrm>
          <a:prstGeom prst="rect">
            <a:avLst/>
          </a:prstGeom>
          <a:solidFill>
            <a:srgbClr val="1F4E99">
              <a:alpha val="12000"/>
            </a:srgbClr>
          </a:solidFill>
        </p:spPr>
      </p:sp>
      <p:sp>
        <p:nvSpPr>
          <p:cNvPr id="56" name="Text 20"/>
          <p:cNvSpPr/>
          <p:nvPr/>
        </p:nvSpPr>
        <p:spPr>
          <a:xfrm>
            <a:off x="11210544" y="2871216"/>
            <a:ext cx="82296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📰</a:t>
            </a:r>
            <a:endParaRPr lang="en-US" sz="2600" dirty="0"/>
          </a:p>
        </p:txBody>
      </p:sp>
      <p:sp>
        <p:nvSpPr>
          <p:cNvPr id="57" name="Text 21"/>
          <p:cNvSpPr/>
          <p:nvPr/>
        </p:nvSpPr>
        <p:spPr>
          <a:xfrm>
            <a:off x="12088368" y="2907792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99"/>
                </a:solidFill>
              </a:rPr>
              <a:t>Massive Media Coverage</a:t>
            </a:r>
            <a:endParaRPr lang="en-US" sz="1500" dirty="0"/>
          </a:p>
        </p:txBody>
      </p:sp>
      <p:sp>
        <p:nvSpPr>
          <p:cNvPr id="58" name="Text 22"/>
          <p:cNvSpPr/>
          <p:nvPr/>
        </p:nvSpPr>
        <p:spPr>
          <a:xfrm>
            <a:off x="12088368" y="3264408"/>
            <a:ext cx="7589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DB0"/>
                </a:solidFill>
              </a:rPr>
              <a:t>Relentless global press coverage caused significant damage to Facebook's image</a:t>
            </a:r>
            <a:endParaRPr lang="en-US" sz="1200" dirty="0"/>
          </a:p>
        </p:txBody>
      </p:sp>
      <p:sp>
        <p:nvSpPr>
          <p:cNvPr id="59" name="Shape 23"/>
          <p:cNvSpPr/>
          <p:nvPr/>
        </p:nvSpPr>
        <p:spPr>
          <a:xfrm>
            <a:off x="11155680" y="3767328"/>
            <a:ext cx="8595360" cy="768096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3" name="Shape 24"/>
          <p:cNvSpPr/>
          <p:nvPr/>
        </p:nvSpPr>
        <p:spPr>
          <a:xfrm>
            <a:off x="11155680" y="3767328"/>
            <a:ext cx="54864" cy="768096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64" name="Shape 25"/>
          <p:cNvSpPr/>
          <p:nvPr/>
        </p:nvSpPr>
        <p:spPr>
          <a:xfrm>
            <a:off x="11210544" y="3767328"/>
            <a:ext cx="822960" cy="768096"/>
          </a:xfrm>
          <a:prstGeom prst="rect">
            <a:avLst/>
          </a:prstGeom>
          <a:solidFill>
            <a:srgbClr val="4A148C">
              <a:alpha val="12000"/>
            </a:srgbClr>
          </a:solidFill>
        </p:spPr>
      </p:sp>
      <p:sp>
        <p:nvSpPr>
          <p:cNvPr id="68" name="Text 26"/>
          <p:cNvSpPr/>
          <p:nvPr/>
        </p:nvSpPr>
        <p:spPr>
          <a:xfrm>
            <a:off x="11210544" y="3767328"/>
            <a:ext cx="82296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69" name="Text 27"/>
          <p:cNvSpPr/>
          <p:nvPr/>
        </p:nvSpPr>
        <p:spPr>
          <a:xfrm>
            <a:off x="12088368" y="3803904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148C"/>
                </a:solidFill>
              </a:rPr>
              <a:t>Government Investigations</a:t>
            </a:r>
            <a:endParaRPr lang="en-US" sz="1500" dirty="0"/>
          </a:p>
        </p:txBody>
      </p:sp>
      <p:sp>
        <p:nvSpPr>
          <p:cNvPr id="73" name="Text 28"/>
          <p:cNvSpPr/>
          <p:nvPr/>
        </p:nvSpPr>
        <p:spPr>
          <a:xfrm>
            <a:off x="12088368" y="4160520"/>
            <a:ext cx="7589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DB0"/>
                </a:solidFill>
              </a:rPr>
              <a:t>Regulators in the US, EU, and UK launched formal parliamentary investigations</a:t>
            </a:r>
            <a:endParaRPr lang="en-US" sz="1200" dirty="0"/>
          </a:p>
        </p:txBody>
      </p:sp>
      <p:sp>
        <p:nvSpPr>
          <p:cNvPr id="74" name="Shape 0"/>
          <p:cNvSpPr/>
          <p:nvPr/>
        </p:nvSpPr>
        <p:spPr>
          <a:xfrm>
            <a:off x="9593580" y="5997575"/>
            <a:ext cx="504190" cy="26048335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78" name="Shape 1"/>
          <p:cNvSpPr/>
          <p:nvPr/>
        </p:nvSpPr>
        <p:spPr>
          <a:xfrm>
            <a:off x="9593580" y="10871200"/>
            <a:ext cx="22931755" cy="136652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79" name="Text 2"/>
          <p:cNvSpPr/>
          <p:nvPr/>
        </p:nvSpPr>
        <p:spPr>
          <a:xfrm>
            <a:off x="17274540" y="10880725"/>
            <a:ext cx="3439160" cy="1157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DB0"/>
                </a:solidFill>
              </a:rPr>
              <a:t>5 / 12</a:t>
            </a:r>
            <a:endParaRPr lang="en-US" sz="1000" dirty="0"/>
          </a:p>
        </p:txBody>
      </p:sp>
      <p:sp>
        <p:nvSpPr>
          <p:cNvPr id="80" name="Shape 3"/>
          <p:cNvSpPr/>
          <p:nvPr/>
        </p:nvSpPr>
        <p:spPr>
          <a:xfrm>
            <a:off x="9794875" y="5997575"/>
            <a:ext cx="22426930" cy="4862195"/>
          </a:xfrm>
          <a:prstGeom prst="rect">
            <a:avLst/>
          </a:prstGeom>
          <a:solidFill>
            <a:srgbClr val="1F4E99"/>
          </a:solidFill>
        </p:spPr>
      </p:sp>
      <p:sp>
        <p:nvSpPr>
          <p:cNvPr id="81" name="Text 4"/>
          <p:cNvSpPr/>
          <p:nvPr/>
        </p:nvSpPr>
        <p:spPr>
          <a:xfrm>
            <a:off x="9977755" y="5997575"/>
            <a:ext cx="21326475" cy="4862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Types of Data Collected</a:t>
            </a:r>
            <a:endParaRPr lang="en-US" sz="3000" dirty="0"/>
          </a:p>
        </p:txBody>
      </p:sp>
      <p:sp>
        <p:nvSpPr>
          <p:cNvPr id="82" name="Shape 5"/>
          <p:cNvSpPr/>
          <p:nvPr/>
        </p:nvSpPr>
        <p:spPr>
          <a:xfrm>
            <a:off x="9740900" y="6922135"/>
            <a:ext cx="10318750" cy="82423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3" name="Shape 6"/>
          <p:cNvSpPr/>
          <p:nvPr/>
        </p:nvSpPr>
        <p:spPr>
          <a:xfrm>
            <a:off x="9740900" y="6922135"/>
            <a:ext cx="10318750" cy="2408555"/>
          </a:xfrm>
          <a:prstGeom prst="rect">
            <a:avLst/>
          </a:prstGeom>
          <a:solidFill>
            <a:srgbClr val="1F4E99"/>
          </a:solidFill>
        </p:spPr>
      </p:sp>
      <p:sp>
        <p:nvSpPr>
          <p:cNvPr id="84" name="Text 7"/>
          <p:cNvSpPr/>
          <p:nvPr/>
        </p:nvSpPr>
        <p:spPr>
          <a:xfrm>
            <a:off x="9740900" y="6922135"/>
            <a:ext cx="10318750" cy="24085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👤  Personal Info</a:t>
            </a:r>
            <a:endParaRPr lang="en-US" sz="1500" dirty="0"/>
          </a:p>
        </p:txBody>
      </p:sp>
      <p:sp>
        <p:nvSpPr>
          <p:cNvPr id="85" name="Shape 8"/>
          <p:cNvSpPr/>
          <p:nvPr/>
        </p:nvSpPr>
        <p:spPr>
          <a:xfrm>
            <a:off x="9942195" y="7516495"/>
            <a:ext cx="412115" cy="832485"/>
          </a:xfrm>
          <a:prstGeom prst="ellipse">
            <a:avLst/>
          </a:prstGeom>
          <a:solidFill>
            <a:srgbClr val="1F4E99"/>
          </a:solidFill>
        </p:spPr>
      </p:sp>
      <p:sp>
        <p:nvSpPr>
          <p:cNvPr id="86" name="Text 9"/>
          <p:cNvSpPr/>
          <p:nvPr/>
        </p:nvSpPr>
        <p:spPr>
          <a:xfrm>
            <a:off x="10198100" y="7470775"/>
            <a:ext cx="8828405" cy="1945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Names</a:t>
            </a:r>
            <a:endParaRPr lang="en-US" sz="1400" dirty="0"/>
          </a:p>
        </p:txBody>
      </p:sp>
      <p:sp>
        <p:nvSpPr>
          <p:cNvPr id="87" name="Shape 10"/>
          <p:cNvSpPr/>
          <p:nvPr/>
        </p:nvSpPr>
        <p:spPr>
          <a:xfrm>
            <a:off x="9942195" y="8028305"/>
            <a:ext cx="412115" cy="832485"/>
          </a:xfrm>
          <a:prstGeom prst="ellipse">
            <a:avLst/>
          </a:prstGeom>
          <a:solidFill>
            <a:srgbClr val="1F4E99"/>
          </a:solidFill>
        </p:spPr>
      </p:sp>
      <p:sp>
        <p:nvSpPr>
          <p:cNvPr id="88" name="Text 11"/>
          <p:cNvSpPr/>
          <p:nvPr/>
        </p:nvSpPr>
        <p:spPr>
          <a:xfrm>
            <a:off x="10198100" y="7982585"/>
            <a:ext cx="8828405" cy="1945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Age &amp; Demographics</a:t>
            </a:r>
            <a:endParaRPr lang="en-US" sz="1400" dirty="0"/>
          </a:p>
        </p:txBody>
      </p:sp>
      <p:sp>
        <p:nvSpPr>
          <p:cNvPr id="89" name="Shape 12"/>
          <p:cNvSpPr/>
          <p:nvPr/>
        </p:nvSpPr>
        <p:spPr>
          <a:xfrm>
            <a:off x="14175740" y="6922135"/>
            <a:ext cx="10318750" cy="82423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0" name="Shape 13"/>
          <p:cNvSpPr/>
          <p:nvPr/>
        </p:nvSpPr>
        <p:spPr>
          <a:xfrm>
            <a:off x="14175740" y="6922135"/>
            <a:ext cx="10318750" cy="2408555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91" name="Text 14"/>
          <p:cNvSpPr/>
          <p:nvPr/>
        </p:nvSpPr>
        <p:spPr>
          <a:xfrm>
            <a:off x="14175740" y="6922135"/>
            <a:ext cx="10318750" cy="24085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👥  Social Data</a:t>
            </a:r>
            <a:endParaRPr lang="en-US" sz="1500" dirty="0"/>
          </a:p>
        </p:txBody>
      </p:sp>
      <p:sp>
        <p:nvSpPr>
          <p:cNvPr id="92" name="Shape 15"/>
          <p:cNvSpPr/>
          <p:nvPr/>
        </p:nvSpPr>
        <p:spPr>
          <a:xfrm>
            <a:off x="14377035" y="7516495"/>
            <a:ext cx="412115" cy="832485"/>
          </a:xfrm>
          <a:prstGeom prst="ellipse">
            <a:avLst/>
          </a:prstGeom>
          <a:solidFill>
            <a:srgbClr val="B71C1C"/>
          </a:solidFill>
        </p:spPr>
      </p:sp>
      <p:sp>
        <p:nvSpPr>
          <p:cNvPr id="93" name="Text 16"/>
          <p:cNvSpPr/>
          <p:nvPr/>
        </p:nvSpPr>
        <p:spPr>
          <a:xfrm>
            <a:off x="14632940" y="7470775"/>
            <a:ext cx="8828405" cy="1945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Friend Lists</a:t>
            </a:r>
            <a:endParaRPr lang="en-US" sz="1400" dirty="0"/>
          </a:p>
        </p:txBody>
      </p:sp>
      <p:sp>
        <p:nvSpPr>
          <p:cNvPr id="94" name="Shape 17"/>
          <p:cNvSpPr/>
          <p:nvPr/>
        </p:nvSpPr>
        <p:spPr>
          <a:xfrm>
            <a:off x="14377035" y="8028305"/>
            <a:ext cx="412115" cy="832485"/>
          </a:xfrm>
          <a:prstGeom prst="ellipse">
            <a:avLst/>
          </a:prstGeom>
          <a:solidFill>
            <a:srgbClr val="B71C1C"/>
          </a:solidFill>
        </p:spPr>
      </p:sp>
      <p:sp>
        <p:nvSpPr>
          <p:cNvPr id="95" name="Text 18"/>
          <p:cNvSpPr/>
          <p:nvPr/>
        </p:nvSpPr>
        <p:spPr>
          <a:xfrm>
            <a:off x="14632940" y="7982585"/>
            <a:ext cx="8828405" cy="1945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Group Memberships</a:t>
            </a:r>
            <a:endParaRPr lang="en-US" sz="1400" dirty="0"/>
          </a:p>
        </p:txBody>
      </p:sp>
      <p:sp>
        <p:nvSpPr>
          <p:cNvPr id="96" name="Shape 19"/>
          <p:cNvSpPr/>
          <p:nvPr/>
        </p:nvSpPr>
        <p:spPr>
          <a:xfrm>
            <a:off x="9740900" y="8750935"/>
            <a:ext cx="10318750" cy="82423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7" name="Shape 20"/>
          <p:cNvSpPr/>
          <p:nvPr/>
        </p:nvSpPr>
        <p:spPr>
          <a:xfrm>
            <a:off x="9740900" y="8750935"/>
            <a:ext cx="10318750" cy="2408555"/>
          </a:xfrm>
          <a:prstGeom prst="rect">
            <a:avLst/>
          </a:prstGeom>
          <a:solidFill>
            <a:srgbClr val="E65100"/>
          </a:solidFill>
        </p:spPr>
      </p:sp>
      <p:sp>
        <p:nvSpPr>
          <p:cNvPr id="98" name="Text 21"/>
          <p:cNvSpPr/>
          <p:nvPr/>
        </p:nvSpPr>
        <p:spPr>
          <a:xfrm>
            <a:off x="9740900" y="8750935"/>
            <a:ext cx="10318750" cy="24085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🖱️  Behavioral Data</a:t>
            </a:r>
            <a:endParaRPr lang="en-US" sz="1500" dirty="0"/>
          </a:p>
        </p:txBody>
      </p:sp>
      <p:sp>
        <p:nvSpPr>
          <p:cNvPr id="99" name="Shape 22"/>
          <p:cNvSpPr/>
          <p:nvPr/>
        </p:nvSpPr>
        <p:spPr>
          <a:xfrm>
            <a:off x="9942195" y="9345295"/>
            <a:ext cx="412115" cy="832485"/>
          </a:xfrm>
          <a:prstGeom prst="ellipse">
            <a:avLst/>
          </a:prstGeom>
          <a:solidFill>
            <a:srgbClr val="E65100"/>
          </a:solidFill>
        </p:spPr>
      </p:sp>
      <p:sp>
        <p:nvSpPr>
          <p:cNvPr id="100" name="Text 23"/>
          <p:cNvSpPr/>
          <p:nvPr/>
        </p:nvSpPr>
        <p:spPr>
          <a:xfrm>
            <a:off x="10198100" y="9299575"/>
            <a:ext cx="8828405" cy="1945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Likes &amp; Interests</a:t>
            </a:r>
            <a:endParaRPr lang="en-US" sz="1400" dirty="0"/>
          </a:p>
        </p:txBody>
      </p:sp>
      <p:sp>
        <p:nvSpPr>
          <p:cNvPr id="101" name="Shape 24"/>
          <p:cNvSpPr/>
          <p:nvPr/>
        </p:nvSpPr>
        <p:spPr>
          <a:xfrm>
            <a:off x="9942195" y="9857105"/>
            <a:ext cx="412115" cy="832485"/>
          </a:xfrm>
          <a:prstGeom prst="ellipse">
            <a:avLst/>
          </a:prstGeom>
          <a:solidFill>
            <a:srgbClr val="E65100"/>
          </a:solidFill>
        </p:spPr>
      </p:sp>
      <p:sp>
        <p:nvSpPr>
          <p:cNvPr id="102" name="Text 25"/>
          <p:cNvSpPr/>
          <p:nvPr/>
        </p:nvSpPr>
        <p:spPr>
          <a:xfrm>
            <a:off x="10198100" y="9811385"/>
            <a:ext cx="8828405" cy="1945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Online Activity</a:t>
            </a:r>
            <a:endParaRPr lang="en-US" sz="1400" dirty="0"/>
          </a:p>
        </p:txBody>
      </p:sp>
      <p:sp>
        <p:nvSpPr>
          <p:cNvPr id="103" name="Shape 26"/>
          <p:cNvSpPr/>
          <p:nvPr/>
        </p:nvSpPr>
        <p:spPr>
          <a:xfrm>
            <a:off x="14175740" y="8750935"/>
            <a:ext cx="10318750" cy="82423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4" name="Shape 27"/>
          <p:cNvSpPr/>
          <p:nvPr/>
        </p:nvSpPr>
        <p:spPr>
          <a:xfrm>
            <a:off x="14175740" y="8750935"/>
            <a:ext cx="10318750" cy="2408555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105" name="Text 28"/>
          <p:cNvSpPr/>
          <p:nvPr/>
        </p:nvSpPr>
        <p:spPr>
          <a:xfrm>
            <a:off x="14175740" y="8750935"/>
            <a:ext cx="10318750" cy="24085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🔒  Sensitive Data</a:t>
            </a:r>
            <a:endParaRPr lang="en-US" sz="1500" dirty="0"/>
          </a:p>
        </p:txBody>
      </p:sp>
      <p:sp>
        <p:nvSpPr>
          <p:cNvPr id="106" name="Shape 29"/>
          <p:cNvSpPr/>
          <p:nvPr/>
        </p:nvSpPr>
        <p:spPr>
          <a:xfrm>
            <a:off x="14377035" y="9345295"/>
            <a:ext cx="412115" cy="832485"/>
          </a:xfrm>
          <a:prstGeom prst="ellipse">
            <a:avLst/>
          </a:prstGeom>
          <a:solidFill>
            <a:srgbClr val="4A148C"/>
          </a:solidFill>
        </p:spPr>
      </p:sp>
      <p:sp>
        <p:nvSpPr>
          <p:cNvPr id="107" name="Text 30"/>
          <p:cNvSpPr/>
          <p:nvPr/>
        </p:nvSpPr>
        <p:spPr>
          <a:xfrm>
            <a:off x="14632940" y="9299575"/>
            <a:ext cx="8828405" cy="1945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Political Preferences</a:t>
            </a:r>
            <a:endParaRPr lang="en-US" sz="1400" dirty="0"/>
          </a:p>
        </p:txBody>
      </p:sp>
      <p:sp>
        <p:nvSpPr>
          <p:cNvPr id="108" name="Shape 31"/>
          <p:cNvSpPr/>
          <p:nvPr/>
        </p:nvSpPr>
        <p:spPr>
          <a:xfrm>
            <a:off x="14377035" y="9857105"/>
            <a:ext cx="412115" cy="832485"/>
          </a:xfrm>
          <a:prstGeom prst="ellipse">
            <a:avLst/>
          </a:prstGeom>
          <a:solidFill>
            <a:srgbClr val="4A148C"/>
          </a:solidFill>
        </p:spPr>
      </p:sp>
      <p:sp>
        <p:nvSpPr>
          <p:cNvPr id="109" name="Text 32"/>
          <p:cNvSpPr/>
          <p:nvPr/>
        </p:nvSpPr>
        <p:spPr>
          <a:xfrm>
            <a:off x="14632940" y="9811385"/>
            <a:ext cx="8828405" cy="1945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Location Info</a:t>
            </a:r>
            <a:endParaRPr lang="en-US" sz="1400" dirty="0"/>
          </a:p>
        </p:txBody>
      </p:sp>
      <p:sp>
        <p:nvSpPr>
          <p:cNvPr id="110" name="Text 33"/>
          <p:cNvSpPr/>
          <p:nvPr/>
        </p:nvSpPr>
        <p:spPr>
          <a:xfrm>
            <a:off x="9740900" y="10488295"/>
            <a:ext cx="21555710" cy="1157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B8DB0"/>
                </a:solidFill>
              </a:rPr>
              <a:t>🎯 Used for political advertising and targeted voter manipulation.</a:t>
            </a:r>
            <a:endParaRPr lang="en-US" sz="1100" dirty="0"/>
          </a:p>
        </p:txBody>
      </p:sp>
      <p:sp>
        <p:nvSpPr>
          <p:cNvPr id="111" name="Text 7"/>
          <p:cNvSpPr/>
          <p:nvPr/>
        </p:nvSpPr>
        <p:spPr>
          <a:xfrm>
            <a:off x="11066780" y="12092940"/>
            <a:ext cx="1261110" cy="3704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12" name="Shape 8"/>
          <p:cNvSpPr/>
          <p:nvPr/>
        </p:nvSpPr>
        <p:spPr>
          <a:xfrm>
            <a:off x="11615420" y="12092940"/>
            <a:ext cx="17428210" cy="370459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3" name="Text 9"/>
          <p:cNvSpPr/>
          <p:nvPr/>
        </p:nvSpPr>
        <p:spPr>
          <a:xfrm>
            <a:off x="11752580" y="12092940"/>
            <a:ext cx="16969105" cy="3704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A quiz app ('thisisyourdigitallife') published on Facebook by researcher Aleksandr Kogan.</a:t>
            </a:r>
            <a:endParaRPr lang="en-US" sz="1400" dirty="0"/>
          </a:p>
        </p:txBody>
      </p:sp>
      <p:sp>
        <p:nvSpPr>
          <p:cNvPr id="114" name="Text 12"/>
          <p:cNvSpPr/>
          <p:nvPr/>
        </p:nvSpPr>
        <p:spPr>
          <a:xfrm>
            <a:off x="11066780" y="13025755"/>
            <a:ext cx="1261110" cy="3704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🗃️</a:t>
            </a:r>
            <a:endParaRPr lang="en-US" sz="2200" dirty="0"/>
          </a:p>
        </p:txBody>
      </p:sp>
      <p:sp>
        <p:nvSpPr>
          <p:cNvPr id="115" name="Shape 13"/>
          <p:cNvSpPr/>
          <p:nvPr/>
        </p:nvSpPr>
        <p:spPr>
          <a:xfrm>
            <a:off x="11615420" y="13025755"/>
            <a:ext cx="17428210" cy="3704590"/>
          </a:xfrm>
          <a:prstGeom prst="rect">
            <a:avLst/>
          </a:prstGeom>
          <a:solidFill>
            <a:srgbClr val="E8EEF9"/>
          </a:solidFill>
        </p:spPr>
      </p:sp>
      <p:sp>
        <p:nvSpPr>
          <p:cNvPr id="116" name="Text 14"/>
          <p:cNvSpPr/>
          <p:nvPr/>
        </p:nvSpPr>
        <p:spPr>
          <a:xfrm>
            <a:off x="11752580" y="13025755"/>
            <a:ext cx="16969105" cy="3704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App secretly harvested data from ~87 million users &amp; their friends without consent.</a:t>
            </a:r>
            <a:endParaRPr lang="en-US" sz="1400" dirty="0"/>
          </a:p>
        </p:txBody>
      </p:sp>
      <p:sp>
        <p:nvSpPr>
          <p:cNvPr id="117" name="Text 17"/>
          <p:cNvSpPr/>
          <p:nvPr/>
        </p:nvSpPr>
        <p:spPr>
          <a:xfrm>
            <a:off x="11066780" y="13958570"/>
            <a:ext cx="1261110" cy="3704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🗳️</a:t>
            </a:r>
            <a:endParaRPr lang="en-US" sz="2200" dirty="0"/>
          </a:p>
        </p:txBody>
      </p:sp>
      <p:sp>
        <p:nvSpPr>
          <p:cNvPr id="118" name="Shape 18"/>
          <p:cNvSpPr/>
          <p:nvPr/>
        </p:nvSpPr>
        <p:spPr>
          <a:xfrm>
            <a:off x="11615420" y="13958570"/>
            <a:ext cx="17428210" cy="370459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9" name="Text 19"/>
          <p:cNvSpPr/>
          <p:nvPr/>
        </p:nvSpPr>
        <p:spPr>
          <a:xfrm>
            <a:off x="11752580" y="13958570"/>
            <a:ext cx="16969105" cy="3704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Data shared with Cambridge Analytica for political ad targeting in US elections.</a:t>
            </a:r>
            <a:endParaRPr lang="en-US" sz="1400" dirty="0"/>
          </a:p>
        </p:txBody>
      </p:sp>
      <p:sp>
        <p:nvSpPr>
          <p:cNvPr id="120" name="Text 22"/>
          <p:cNvSpPr/>
          <p:nvPr/>
        </p:nvSpPr>
        <p:spPr>
          <a:xfrm>
            <a:off x="11066780" y="14891385"/>
            <a:ext cx="1261110" cy="3704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📰</a:t>
            </a:r>
            <a:endParaRPr lang="en-US" sz="2200" dirty="0"/>
          </a:p>
        </p:txBody>
      </p:sp>
      <p:sp>
        <p:nvSpPr>
          <p:cNvPr id="121" name="Shape 23"/>
          <p:cNvSpPr/>
          <p:nvPr/>
        </p:nvSpPr>
        <p:spPr>
          <a:xfrm>
            <a:off x="11615420" y="14891385"/>
            <a:ext cx="17428210" cy="3704590"/>
          </a:xfrm>
          <a:prstGeom prst="rect">
            <a:avLst/>
          </a:prstGeom>
          <a:solidFill>
            <a:srgbClr val="E8EEF9"/>
          </a:solidFill>
        </p:spPr>
      </p:sp>
      <p:sp>
        <p:nvSpPr>
          <p:cNvPr id="122" name="Text 24"/>
          <p:cNvSpPr/>
          <p:nvPr/>
        </p:nvSpPr>
        <p:spPr>
          <a:xfrm>
            <a:off x="11752580" y="14891385"/>
            <a:ext cx="16969105" cy="3704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Scandal exposed publicly by The Guardian and The New York Times.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3" name="Shape 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4" name="Text 2"/>
          <p:cNvSpPr/>
          <p:nvPr/>
        </p:nvSpPr>
        <p:spPr>
          <a:xfrm>
            <a:off x="7680960" y="4882896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DB0"/>
                </a:solidFill>
              </a:rPr>
              <a:t>6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1168" y="0"/>
            <a:ext cx="8942832" cy="960120"/>
          </a:xfrm>
          <a:prstGeom prst="rect">
            <a:avLst/>
          </a:prstGeom>
          <a:solidFill>
            <a:srgbClr val="1F4E99"/>
          </a:solidFill>
        </p:spPr>
      </p:sp>
      <p:sp>
        <p:nvSpPr>
          <p:cNvPr id="6" name="Text 4"/>
          <p:cNvSpPr/>
          <p:nvPr/>
        </p:nvSpPr>
        <p:spPr>
          <a:xfrm>
            <a:off x="384048" y="0"/>
            <a:ext cx="85039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Impact on Facebook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8595360" cy="768096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78992"/>
            <a:ext cx="54864" cy="768096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9" name="Shape 7"/>
          <p:cNvSpPr/>
          <p:nvPr/>
        </p:nvSpPr>
        <p:spPr>
          <a:xfrm>
            <a:off x="329184" y="1078992"/>
            <a:ext cx="822960" cy="768096"/>
          </a:xfrm>
          <a:prstGeom prst="rect">
            <a:avLst/>
          </a:prstGeom>
          <a:solidFill>
            <a:srgbClr val="B71C1C">
              <a:alpha val="12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329184" y="1078992"/>
            <a:ext cx="82296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💔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207008" y="1115568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71C1C"/>
                </a:solidFill>
              </a:rPr>
              <a:t>Loss of Public Trust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1472184"/>
            <a:ext cx="7589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DB0"/>
                </a:solidFill>
              </a:rPr>
              <a:t>Users worldwide questioned Facebook's ability to protect their personal 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1975104"/>
            <a:ext cx="8595360" cy="768096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975104"/>
            <a:ext cx="54864" cy="768096"/>
          </a:xfrm>
          <a:prstGeom prst="rect">
            <a:avLst/>
          </a:prstGeom>
          <a:solidFill>
            <a:srgbClr val="E65100"/>
          </a:solidFill>
        </p:spPr>
      </p:sp>
      <p:sp>
        <p:nvSpPr>
          <p:cNvPr id="15" name="Shape 13"/>
          <p:cNvSpPr/>
          <p:nvPr/>
        </p:nvSpPr>
        <p:spPr>
          <a:xfrm>
            <a:off x="329184" y="1975104"/>
            <a:ext cx="822960" cy="768096"/>
          </a:xfrm>
          <a:prstGeom prst="rect">
            <a:avLst/>
          </a:prstGeom>
          <a:solidFill>
            <a:srgbClr val="E65100">
              <a:alpha val="12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329184" y="1975104"/>
            <a:ext cx="82296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207008" y="2011680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5100"/>
                </a:solidFill>
              </a:rPr>
              <a:t>Stock Price Dropped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07008" y="2368296"/>
            <a:ext cx="7589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DB0"/>
                </a:solidFill>
              </a:rPr>
              <a:t>Facebook shares fell sharply within days of the scandal breaking publicly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2871216"/>
            <a:ext cx="8595360" cy="768096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71216"/>
            <a:ext cx="54864" cy="768096"/>
          </a:xfrm>
          <a:prstGeom prst="rect">
            <a:avLst/>
          </a:prstGeom>
          <a:solidFill>
            <a:srgbClr val="1F4E99"/>
          </a:solidFill>
        </p:spPr>
      </p:sp>
      <p:sp>
        <p:nvSpPr>
          <p:cNvPr id="21" name="Shape 19"/>
          <p:cNvSpPr/>
          <p:nvPr/>
        </p:nvSpPr>
        <p:spPr>
          <a:xfrm>
            <a:off x="329184" y="2871216"/>
            <a:ext cx="822960" cy="768096"/>
          </a:xfrm>
          <a:prstGeom prst="rect">
            <a:avLst/>
          </a:prstGeom>
          <a:solidFill>
            <a:srgbClr val="1F4E99">
              <a:alpha val="12000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329184" y="2871216"/>
            <a:ext cx="82296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📰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207008" y="2907792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99"/>
                </a:solidFill>
              </a:rPr>
              <a:t>Massive Media Coverage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07008" y="3264408"/>
            <a:ext cx="7589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DB0"/>
                </a:solidFill>
              </a:rPr>
              <a:t>Relentless global press coverage caused significant damage to Facebook's image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767328"/>
            <a:ext cx="8595360" cy="768096"/>
          </a:xfrm>
          <a:prstGeom prst="rect">
            <a:avLst/>
          </a:prstGeom>
          <a:solidFill>
            <a:srgbClr val="FFFFFF"/>
          </a:solidFill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767328"/>
            <a:ext cx="54864" cy="768096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27" name="Shape 25"/>
          <p:cNvSpPr/>
          <p:nvPr/>
        </p:nvSpPr>
        <p:spPr>
          <a:xfrm>
            <a:off x="329184" y="3767328"/>
            <a:ext cx="822960" cy="768096"/>
          </a:xfrm>
          <a:prstGeom prst="rect">
            <a:avLst/>
          </a:prstGeom>
          <a:solidFill>
            <a:srgbClr val="4A148C">
              <a:alpha val="12000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329184" y="3767328"/>
            <a:ext cx="82296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1207008" y="3803904"/>
            <a:ext cx="34747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148C"/>
                </a:solidFill>
              </a:rPr>
              <a:t>Government Investigations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207008" y="4160520"/>
            <a:ext cx="7589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DB0"/>
                </a:solidFill>
              </a:rPr>
              <a:t>Regulators in the US, EU, and UK launched formal parliamentary investigations</a:t>
            </a:r>
            <a:endParaRPr lang="en-US" sz="1200" dirty="0"/>
          </a:p>
        </p:txBody>
      </p:sp>
      <p:sp>
        <p:nvSpPr>
          <p:cNvPr id="31" name="Shape 0"/>
          <p:cNvSpPr/>
          <p:nvPr/>
        </p:nvSpPr>
        <p:spPr>
          <a:xfrm>
            <a:off x="-1287780" y="5997575"/>
            <a:ext cx="504190" cy="26048335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32" name="Shape 1"/>
          <p:cNvSpPr/>
          <p:nvPr/>
        </p:nvSpPr>
        <p:spPr>
          <a:xfrm>
            <a:off x="-1287780" y="10871200"/>
            <a:ext cx="22931755" cy="136652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3" name="Text 2"/>
          <p:cNvSpPr/>
          <p:nvPr/>
        </p:nvSpPr>
        <p:spPr>
          <a:xfrm>
            <a:off x="6393180" y="10880725"/>
            <a:ext cx="3439160" cy="1157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DB0"/>
                </a:solidFill>
              </a:rPr>
              <a:t>5 / 12</a:t>
            </a:r>
            <a:endParaRPr lang="en-US" sz="1000" dirty="0"/>
          </a:p>
        </p:txBody>
      </p:sp>
      <p:sp>
        <p:nvSpPr>
          <p:cNvPr id="34" name="Shape 3"/>
          <p:cNvSpPr/>
          <p:nvPr/>
        </p:nvSpPr>
        <p:spPr>
          <a:xfrm>
            <a:off x="-1086485" y="5997575"/>
            <a:ext cx="22426930" cy="4862195"/>
          </a:xfrm>
          <a:prstGeom prst="rect">
            <a:avLst/>
          </a:prstGeom>
          <a:solidFill>
            <a:srgbClr val="1F4E99"/>
          </a:solidFill>
        </p:spPr>
      </p:sp>
      <p:sp>
        <p:nvSpPr>
          <p:cNvPr id="35" name="Text 4"/>
          <p:cNvSpPr/>
          <p:nvPr/>
        </p:nvSpPr>
        <p:spPr>
          <a:xfrm>
            <a:off x="-903605" y="5997575"/>
            <a:ext cx="21326475" cy="48621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Types of Data Collected</a:t>
            </a:r>
            <a:endParaRPr lang="en-US" sz="3000" dirty="0"/>
          </a:p>
        </p:txBody>
      </p:sp>
      <p:sp>
        <p:nvSpPr>
          <p:cNvPr id="36" name="Shape 5"/>
          <p:cNvSpPr/>
          <p:nvPr/>
        </p:nvSpPr>
        <p:spPr>
          <a:xfrm>
            <a:off x="-1140460" y="6922135"/>
            <a:ext cx="10318750" cy="82423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6"/>
          <p:cNvSpPr/>
          <p:nvPr/>
        </p:nvSpPr>
        <p:spPr>
          <a:xfrm>
            <a:off x="-1140460" y="6922135"/>
            <a:ext cx="10318750" cy="2408555"/>
          </a:xfrm>
          <a:prstGeom prst="rect">
            <a:avLst/>
          </a:prstGeom>
          <a:solidFill>
            <a:srgbClr val="1F4E99"/>
          </a:solidFill>
        </p:spPr>
      </p:sp>
      <p:sp>
        <p:nvSpPr>
          <p:cNvPr id="38" name="Text 7"/>
          <p:cNvSpPr/>
          <p:nvPr/>
        </p:nvSpPr>
        <p:spPr>
          <a:xfrm>
            <a:off x="-1140460" y="6922135"/>
            <a:ext cx="10318750" cy="24085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👤  Personal Info</a:t>
            </a:r>
            <a:endParaRPr lang="en-US" sz="1500" dirty="0"/>
          </a:p>
        </p:txBody>
      </p:sp>
      <p:sp>
        <p:nvSpPr>
          <p:cNvPr id="39" name="Shape 8"/>
          <p:cNvSpPr/>
          <p:nvPr/>
        </p:nvSpPr>
        <p:spPr>
          <a:xfrm>
            <a:off x="-939165" y="7516495"/>
            <a:ext cx="412115" cy="832485"/>
          </a:xfrm>
          <a:prstGeom prst="ellipse">
            <a:avLst/>
          </a:prstGeom>
          <a:solidFill>
            <a:srgbClr val="1F4E99"/>
          </a:solidFill>
        </p:spPr>
      </p:sp>
      <p:sp>
        <p:nvSpPr>
          <p:cNvPr id="40" name="Text 9"/>
          <p:cNvSpPr/>
          <p:nvPr/>
        </p:nvSpPr>
        <p:spPr>
          <a:xfrm>
            <a:off x="-683260" y="7470775"/>
            <a:ext cx="8828405" cy="1945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Names</a:t>
            </a:r>
            <a:endParaRPr lang="en-US" sz="1400" dirty="0"/>
          </a:p>
        </p:txBody>
      </p:sp>
      <p:sp>
        <p:nvSpPr>
          <p:cNvPr id="41" name="Shape 10"/>
          <p:cNvSpPr/>
          <p:nvPr/>
        </p:nvSpPr>
        <p:spPr>
          <a:xfrm>
            <a:off x="-939165" y="8028305"/>
            <a:ext cx="412115" cy="832485"/>
          </a:xfrm>
          <a:prstGeom prst="ellipse">
            <a:avLst/>
          </a:prstGeom>
          <a:solidFill>
            <a:srgbClr val="1F4E99"/>
          </a:solidFill>
        </p:spPr>
      </p:sp>
      <p:sp>
        <p:nvSpPr>
          <p:cNvPr id="42" name="Text 11"/>
          <p:cNvSpPr/>
          <p:nvPr/>
        </p:nvSpPr>
        <p:spPr>
          <a:xfrm>
            <a:off x="-683260" y="7982585"/>
            <a:ext cx="8828405" cy="1945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Age &amp; Demographics</a:t>
            </a:r>
            <a:endParaRPr lang="en-US" sz="1400" dirty="0"/>
          </a:p>
        </p:txBody>
      </p:sp>
      <p:sp>
        <p:nvSpPr>
          <p:cNvPr id="43" name="Shape 12"/>
          <p:cNvSpPr/>
          <p:nvPr/>
        </p:nvSpPr>
        <p:spPr>
          <a:xfrm>
            <a:off x="3294380" y="6922135"/>
            <a:ext cx="10318750" cy="82423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13"/>
          <p:cNvSpPr/>
          <p:nvPr/>
        </p:nvSpPr>
        <p:spPr>
          <a:xfrm>
            <a:off x="3294380" y="6922135"/>
            <a:ext cx="10318750" cy="2408555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45" name="Text 14"/>
          <p:cNvSpPr/>
          <p:nvPr/>
        </p:nvSpPr>
        <p:spPr>
          <a:xfrm>
            <a:off x="3294380" y="6922135"/>
            <a:ext cx="10318750" cy="24085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👥  Social Data</a:t>
            </a:r>
            <a:endParaRPr lang="en-US" sz="1500" dirty="0"/>
          </a:p>
        </p:txBody>
      </p:sp>
      <p:sp>
        <p:nvSpPr>
          <p:cNvPr id="46" name="Shape 15"/>
          <p:cNvSpPr/>
          <p:nvPr/>
        </p:nvSpPr>
        <p:spPr>
          <a:xfrm>
            <a:off x="3495675" y="7516495"/>
            <a:ext cx="412115" cy="832485"/>
          </a:xfrm>
          <a:prstGeom prst="ellipse">
            <a:avLst/>
          </a:prstGeom>
          <a:solidFill>
            <a:srgbClr val="B71C1C"/>
          </a:solidFill>
        </p:spPr>
      </p:sp>
      <p:sp>
        <p:nvSpPr>
          <p:cNvPr id="47" name="Text 16"/>
          <p:cNvSpPr/>
          <p:nvPr/>
        </p:nvSpPr>
        <p:spPr>
          <a:xfrm>
            <a:off x="3751580" y="7470775"/>
            <a:ext cx="8828405" cy="1945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Friend Lists</a:t>
            </a:r>
            <a:endParaRPr lang="en-US" sz="1400" dirty="0"/>
          </a:p>
        </p:txBody>
      </p:sp>
      <p:sp>
        <p:nvSpPr>
          <p:cNvPr id="48" name="Shape 17"/>
          <p:cNvSpPr/>
          <p:nvPr/>
        </p:nvSpPr>
        <p:spPr>
          <a:xfrm>
            <a:off x="3495675" y="8028305"/>
            <a:ext cx="412115" cy="832485"/>
          </a:xfrm>
          <a:prstGeom prst="ellipse">
            <a:avLst/>
          </a:prstGeom>
          <a:solidFill>
            <a:srgbClr val="B71C1C"/>
          </a:solidFill>
        </p:spPr>
      </p:sp>
      <p:sp>
        <p:nvSpPr>
          <p:cNvPr id="49" name="Text 18"/>
          <p:cNvSpPr/>
          <p:nvPr/>
        </p:nvSpPr>
        <p:spPr>
          <a:xfrm>
            <a:off x="3751580" y="7982585"/>
            <a:ext cx="8828405" cy="1945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Group Memberships</a:t>
            </a:r>
            <a:endParaRPr lang="en-US" sz="1400" dirty="0"/>
          </a:p>
        </p:txBody>
      </p:sp>
      <p:sp>
        <p:nvSpPr>
          <p:cNvPr id="50" name="Shape 19"/>
          <p:cNvSpPr/>
          <p:nvPr/>
        </p:nvSpPr>
        <p:spPr>
          <a:xfrm>
            <a:off x="-1140460" y="8750935"/>
            <a:ext cx="10318750" cy="82423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Shape 20"/>
          <p:cNvSpPr/>
          <p:nvPr/>
        </p:nvSpPr>
        <p:spPr>
          <a:xfrm>
            <a:off x="-1140460" y="8750935"/>
            <a:ext cx="10318750" cy="2408555"/>
          </a:xfrm>
          <a:prstGeom prst="rect">
            <a:avLst/>
          </a:prstGeom>
          <a:solidFill>
            <a:srgbClr val="E65100"/>
          </a:solidFill>
        </p:spPr>
      </p:sp>
      <p:sp>
        <p:nvSpPr>
          <p:cNvPr id="52" name="Text 21"/>
          <p:cNvSpPr/>
          <p:nvPr/>
        </p:nvSpPr>
        <p:spPr>
          <a:xfrm>
            <a:off x="-1140460" y="8750935"/>
            <a:ext cx="10318750" cy="24085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🖱️  Behavioral Data</a:t>
            </a:r>
            <a:endParaRPr lang="en-US" sz="1500" dirty="0"/>
          </a:p>
        </p:txBody>
      </p:sp>
      <p:sp>
        <p:nvSpPr>
          <p:cNvPr id="53" name="Shape 22"/>
          <p:cNvSpPr/>
          <p:nvPr/>
        </p:nvSpPr>
        <p:spPr>
          <a:xfrm>
            <a:off x="-939165" y="9345295"/>
            <a:ext cx="412115" cy="832485"/>
          </a:xfrm>
          <a:prstGeom prst="ellipse">
            <a:avLst/>
          </a:prstGeom>
          <a:solidFill>
            <a:srgbClr val="E65100"/>
          </a:solidFill>
        </p:spPr>
      </p:sp>
      <p:sp>
        <p:nvSpPr>
          <p:cNvPr id="54" name="Text 23"/>
          <p:cNvSpPr/>
          <p:nvPr/>
        </p:nvSpPr>
        <p:spPr>
          <a:xfrm>
            <a:off x="-683260" y="9299575"/>
            <a:ext cx="8828405" cy="1945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Likes &amp; Interests</a:t>
            </a:r>
            <a:endParaRPr lang="en-US" sz="1400" dirty="0"/>
          </a:p>
        </p:txBody>
      </p:sp>
      <p:sp>
        <p:nvSpPr>
          <p:cNvPr id="55" name="Shape 24"/>
          <p:cNvSpPr/>
          <p:nvPr/>
        </p:nvSpPr>
        <p:spPr>
          <a:xfrm>
            <a:off x="-939165" y="9857105"/>
            <a:ext cx="412115" cy="832485"/>
          </a:xfrm>
          <a:prstGeom prst="ellipse">
            <a:avLst/>
          </a:prstGeom>
          <a:solidFill>
            <a:srgbClr val="E65100"/>
          </a:solidFill>
        </p:spPr>
      </p:sp>
      <p:sp>
        <p:nvSpPr>
          <p:cNvPr id="56" name="Text 25"/>
          <p:cNvSpPr/>
          <p:nvPr/>
        </p:nvSpPr>
        <p:spPr>
          <a:xfrm>
            <a:off x="-683260" y="9811385"/>
            <a:ext cx="8828405" cy="1945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Online Activity</a:t>
            </a:r>
            <a:endParaRPr lang="en-US" sz="1400" dirty="0"/>
          </a:p>
        </p:txBody>
      </p:sp>
      <p:sp>
        <p:nvSpPr>
          <p:cNvPr id="57" name="Shape 26"/>
          <p:cNvSpPr/>
          <p:nvPr/>
        </p:nvSpPr>
        <p:spPr>
          <a:xfrm>
            <a:off x="3294380" y="8750935"/>
            <a:ext cx="10318750" cy="82423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8" name="Shape 27"/>
          <p:cNvSpPr/>
          <p:nvPr/>
        </p:nvSpPr>
        <p:spPr>
          <a:xfrm>
            <a:off x="3294380" y="8750935"/>
            <a:ext cx="10318750" cy="2408555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59" name="Text 28"/>
          <p:cNvSpPr/>
          <p:nvPr/>
        </p:nvSpPr>
        <p:spPr>
          <a:xfrm>
            <a:off x="3294380" y="8750935"/>
            <a:ext cx="10318750" cy="24085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🔒  Sensitive Data</a:t>
            </a:r>
            <a:endParaRPr lang="en-US" sz="1500" dirty="0"/>
          </a:p>
        </p:txBody>
      </p:sp>
      <p:sp>
        <p:nvSpPr>
          <p:cNvPr id="60" name="Shape 29"/>
          <p:cNvSpPr/>
          <p:nvPr/>
        </p:nvSpPr>
        <p:spPr>
          <a:xfrm>
            <a:off x="3495675" y="9345295"/>
            <a:ext cx="412115" cy="832485"/>
          </a:xfrm>
          <a:prstGeom prst="ellipse">
            <a:avLst/>
          </a:prstGeom>
          <a:solidFill>
            <a:srgbClr val="4A148C"/>
          </a:solidFill>
        </p:spPr>
      </p:sp>
      <p:sp>
        <p:nvSpPr>
          <p:cNvPr id="61" name="Text 30"/>
          <p:cNvSpPr/>
          <p:nvPr/>
        </p:nvSpPr>
        <p:spPr>
          <a:xfrm>
            <a:off x="3751580" y="9299575"/>
            <a:ext cx="8828405" cy="1945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Political Preferences</a:t>
            </a:r>
            <a:endParaRPr lang="en-US" sz="1400" dirty="0"/>
          </a:p>
        </p:txBody>
      </p:sp>
      <p:sp>
        <p:nvSpPr>
          <p:cNvPr id="62" name="Shape 31"/>
          <p:cNvSpPr/>
          <p:nvPr/>
        </p:nvSpPr>
        <p:spPr>
          <a:xfrm>
            <a:off x="3495675" y="9857105"/>
            <a:ext cx="412115" cy="832485"/>
          </a:xfrm>
          <a:prstGeom prst="ellipse">
            <a:avLst/>
          </a:prstGeom>
          <a:solidFill>
            <a:srgbClr val="4A148C"/>
          </a:solidFill>
        </p:spPr>
      </p:sp>
      <p:sp>
        <p:nvSpPr>
          <p:cNvPr id="63" name="Text 32"/>
          <p:cNvSpPr/>
          <p:nvPr/>
        </p:nvSpPr>
        <p:spPr>
          <a:xfrm>
            <a:off x="3751580" y="9811385"/>
            <a:ext cx="8828405" cy="1945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Location Info</a:t>
            </a:r>
            <a:endParaRPr lang="en-US" sz="1400" dirty="0"/>
          </a:p>
        </p:txBody>
      </p:sp>
      <p:sp>
        <p:nvSpPr>
          <p:cNvPr id="64" name="Text 33"/>
          <p:cNvSpPr/>
          <p:nvPr/>
        </p:nvSpPr>
        <p:spPr>
          <a:xfrm>
            <a:off x="-1140460" y="10488295"/>
            <a:ext cx="21555710" cy="1157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B8DB0"/>
                </a:solidFill>
              </a:rPr>
              <a:t>🎯 Used for political advertising and targeted voter manipulation.</a:t>
            </a:r>
            <a:endParaRPr lang="en-US" sz="1100" dirty="0"/>
          </a:p>
        </p:txBody>
      </p:sp>
      <p:sp>
        <p:nvSpPr>
          <p:cNvPr id="65" name="Text 7"/>
          <p:cNvSpPr/>
          <p:nvPr/>
        </p:nvSpPr>
        <p:spPr>
          <a:xfrm>
            <a:off x="185420" y="12092940"/>
            <a:ext cx="1261110" cy="3704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66" name="Shape 8"/>
          <p:cNvSpPr/>
          <p:nvPr/>
        </p:nvSpPr>
        <p:spPr>
          <a:xfrm>
            <a:off x="734060" y="12092940"/>
            <a:ext cx="17428210" cy="370459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7" name="Text 9"/>
          <p:cNvSpPr/>
          <p:nvPr/>
        </p:nvSpPr>
        <p:spPr>
          <a:xfrm>
            <a:off x="871220" y="12092940"/>
            <a:ext cx="16969105" cy="3704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A quiz app ('thisisyourdigitallife') published on Facebook by researcher Aleksandr Kogan.</a:t>
            </a:r>
            <a:endParaRPr lang="en-US" sz="1400" dirty="0"/>
          </a:p>
        </p:txBody>
      </p:sp>
      <p:sp>
        <p:nvSpPr>
          <p:cNvPr id="68" name="Text 12"/>
          <p:cNvSpPr/>
          <p:nvPr/>
        </p:nvSpPr>
        <p:spPr>
          <a:xfrm>
            <a:off x="185420" y="13025755"/>
            <a:ext cx="1261110" cy="3704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🗃️</a:t>
            </a:r>
            <a:endParaRPr lang="en-US" sz="2200" dirty="0"/>
          </a:p>
        </p:txBody>
      </p:sp>
      <p:sp>
        <p:nvSpPr>
          <p:cNvPr id="69" name="Shape 13"/>
          <p:cNvSpPr/>
          <p:nvPr/>
        </p:nvSpPr>
        <p:spPr>
          <a:xfrm>
            <a:off x="734060" y="13025755"/>
            <a:ext cx="17428210" cy="3704590"/>
          </a:xfrm>
          <a:prstGeom prst="rect">
            <a:avLst/>
          </a:prstGeom>
          <a:solidFill>
            <a:srgbClr val="E8EEF9"/>
          </a:solidFill>
        </p:spPr>
      </p:sp>
      <p:sp>
        <p:nvSpPr>
          <p:cNvPr id="70" name="Text 14"/>
          <p:cNvSpPr/>
          <p:nvPr/>
        </p:nvSpPr>
        <p:spPr>
          <a:xfrm>
            <a:off x="871220" y="13025755"/>
            <a:ext cx="16969105" cy="3704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App secretly harvested data from ~87 million users &amp; their friends without consent.</a:t>
            </a:r>
            <a:endParaRPr lang="en-US" sz="1400" dirty="0"/>
          </a:p>
        </p:txBody>
      </p:sp>
      <p:sp>
        <p:nvSpPr>
          <p:cNvPr id="71" name="Text 17"/>
          <p:cNvSpPr/>
          <p:nvPr/>
        </p:nvSpPr>
        <p:spPr>
          <a:xfrm>
            <a:off x="185420" y="13958570"/>
            <a:ext cx="1261110" cy="3704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🗳️</a:t>
            </a:r>
            <a:endParaRPr lang="en-US" sz="2200" dirty="0"/>
          </a:p>
        </p:txBody>
      </p:sp>
      <p:sp>
        <p:nvSpPr>
          <p:cNvPr id="72" name="Shape 18"/>
          <p:cNvSpPr/>
          <p:nvPr/>
        </p:nvSpPr>
        <p:spPr>
          <a:xfrm>
            <a:off x="734060" y="13958570"/>
            <a:ext cx="17428210" cy="370459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3" name="Text 19"/>
          <p:cNvSpPr/>
          <p:nvPr/>
        </p:nvSpPr>
        <p:spPr>
          <a:xfrm>
            <a:off x="871220" y="13958570"/>
            <a:ext cx="16969105" cy="3704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Data shared with Cambridge Analytica for political ad targeting in US elections.</a:t>
            </a:r>
            <a:endParaRPr lang="en-US" sz="1400" dirty="0"/>
          </a:p>
        </p:txBody>
      </p:sp>
      <p:sp>
        <p:nvSpPr>
          <p:cNvPr id="75" name="Text 22"/>
          <p:cNvSpPr/>
          <p:nvPr/>
        </p:nvSpPr>
        <p:spPr>
          <a:xfrm>
            <a:off x="185420" y="14891385"/>
            <a:ext cx="1261110" cy="3704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📰</a:t>
            </a:r>
            <a:endParaRPr lang="en-US" sz="2200" dirty="0"/>
          </a:p>
        </p:txBody>
      </p:sp>
      <p:sp>
        <p:nvSpPr>
          <p:cNvPr id="76" name="Shape 23"/>
          <p:cNvSpPr/>
          <p:nvPr/>
        </p:nvSpPr>
        <p:spPr>
          <a:xfrm>
            <a:off x="734060" y="14891385"/>
            <a:ext cx="17428210" cy="3704590"/>
          </a:xfrm>
          <a:prstGeom prst="rect">
            <a:avLst/>
          </a:prstGeom>
          <a:solidFill>
            <a:srgbClr val="E8EEF9"/>
          </a:solidFill>
        </p:spPr>
      </p:sp>
      <p:sp>
        <p:nvSpPr>
          <p:cNvPr id="77" name="Text 24"/>
          <p:cNvSpPr/>
          <p:nvPr/>
        </p:nvSpPr>
        <p:spPr>
          <a:xfrm>
            <a:off x="871220" y="14891385"/>
            <a:ext cx="16969105" cy="3704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Scandal exposed publicly by The Guardian and The New York Times.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3" name="Shape 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4" name="Text 2"/>
          <p:cNvSpPr/>
          <p:nvPr/>
        </p:nvSpPr>
        <p:spPr>
          <a:xfrm>
            <a:off x="7680960" y="4882896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DB0"/>
                </a:solidFill>
              </a:rPr>
              <a:t>7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1168" y="0"/>
            <a:ext cx="8942832" cy="960120"/>
          </a:xfrm>
          <a:prstGeom prst="rect">
            <a:avLst/>
          </a:prstGeom>
          <a:solidFill>
            <a:srgbClr val="1F4E99"/>
          </a:solidFill>
        </p:spPr>
      </p:sp>
      <p:sp>
        <p:nvSpPr>
          <p:cNvPr id="6" name="Text 4"/>
          <p:cNvSpPr/>
          <p:nvPr/>
        </p:nvSpPr>
        <p:spPr>
          <a:xfrm>
            <a:off x="384048" y="0"/>
            <a:ext cx="85039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⚖️  Legal Consequences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3657600" cy="2743200"/>
          </a:xfrm>
          <a:prstGeom prst="rect">
            <a:avLst/>
          </a:prstGeom>
          <a:solidFill>
            <a:srgbClr val="0D1B2A"/>
          </a:solidFill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097280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💸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74320" y="1783080"/>
            <a:ext cx="3657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9A825"/>
                </a:solidFill>
              </a:rPr>
              <a:t>$5 Billion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74320" y="2633472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FTC Fine — 2019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" y="301752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B8DB0"/>
                </a:solidFill>
              </a:rPr>
              <a:t>Largest privacy fine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7B8DB0"/>
                </a:solidFill>
              </a:rPr>
              <a:t>in US history at the time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06240" y="105156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📋  Required Reforms by FTC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06240" y="1536192"/>
            <a:ext cx="4663440" cy="438912"/>
          </a:xfrm>
          <a:prstGeom prst="rect">
            <a:avLst/>
          </a:prstGeom>
          <a:solidFill>
            <a:srgbClr val="E8EEF9"/>
          </a:solidFill>
        </p:spPr>
      </p:sp>
      <p:sp>
        <p:nvSpPr>
          <p:cNvPr id="14" name="Shape 12"/>
          <p:cNvSpPr/>
          <p:nvPr/>
        </p:nvSpPr>
        <p:spPr>
          <a:xfrm>
            <a:off x="4206240" y="1536192"/>
            <a:ext cx="45720" cy="438912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15" name="Text 13"/>
          <p:cNvSpPr/>
          <p:nvPr/>
        </p:nvSpPr>
        <p:spPr>
          <a:xfrm>
            <a:off x="4343400" y="1536192"/>
            <a:ext cx="44805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📄  Overhaul privacy policies and user disclosures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06240" y="2029968"/>
            <a:ext cx="4663440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Shape 15"/>
          <p:cNvSpPr/>
          <p:nvPr/>
        </p:nvSpPr>
        <p:spPr>
          <a:xfrm>
            <a:off x="4206240" y="2029968"/>
            <a:ext cx="45720" cy="438912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18" name="Text 16"/>
          <p:cNvSpPr/>
          <p:nvPr/>
        </p:nvSpPr>
        <p:spPr>
          <a:xfrm>
            <a:off x="4343400" y="2029968"/>
            <a:ext cx="44805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🔐  Implement stronger data protection systems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06240" y="2523744"/>
            <a:ext cx="4663440" cy="438912"/>
          </a:xfrm>
          <a:prstGeom prst="rect">
            <a:avLst/>
          </a:prstGeom>
          <a:solidFill>
            <a:srgbClr val="E8EEF9"/>
          </a:solidFill>
        </p:spPr>
      </p:sp>
      <p:sp>
        <p:nvSpPr>
          <p:cNvPr id="20" name="Shape 18"/>
          <p:cNvSpPr/>
          <p:nvPr/>
        </p:nvSpPr>
        <p:spPr>
          <a:xfrm>
            <a:off x="4206240" y="2523744"/>
            <a:ext cx="45720" cy="438912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21" name="Text 19"/>
          <p:cNvSpPr/>
          <p:nvPr/>
        </p:nvSpPr>
        <p:spPr>
          <a:xfrm>
            <a:off x="4343400" y="2523744"/>
            <a:ext cx="44805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👁️  Create independent privacy oversight committee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06240" y="3017520"/>
            <a:ext cx="4663440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" name="Shape 21"/>
          <p:cNvSpPr/>
          <p:nvPr/>
        </p:nvSpPr>
        <p:spPr>
          <a:xfrm>
            <a:off x="4206240" y="3017520"/>
            <a:ext cx="45720" cy="438912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24" name="Text 22"/>
          <p:cNvSpPr/>
          <p:nvPr/>
        </p:nvSpPr>
        <p:spPr>
          <a:xfrm>
            <a:off x="4343400" y="3017520"/>
            <a:ext cx="44805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📅  Quarterly privacy compliance reviews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06240" y="3511296"/>
            <a:ext cx="4663440" cy="438912"/>
          </a:xfrm>
          <a:prstGeom prst="rect">
            <a:avLst/>
          </a:prstGeom>
          <a:solidFill>
            <a:srgbClr val="E8EEF9"/>
          </a:solidFill>
        </p:spPr>
      </p:sp>
      <p:sp>
        <p:nvSpPr>
          <p:cNvPr id="26" name="Shape 24"/>
          <p:cNvSpPr/>
          <p:nvPr/>
        </p:nvSpPr>
        <p:spPr>
          <a:xfrm>
            <a:off x="4206240" y="3511296"/>
            <a:ext cx="45720" cy="438912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27" name="Text 25"/>
          <p:cNvSpPr/>
          <p:nvPr/>
        </p:nvSpPr>
        <p:spPr>
          <a:xfrm>
            <a:off x="4343400" y="3511296"/>
            <a:ext cx="44805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👔  CEO personal accountability for privacy practices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3" name="Shape 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4" name="Text 2"/>
          <p:cNvSpPr/>
          <p:nvPr/>
        </p:nvSpPr>
        <p:spPr>
          <a:xfrm>
            <a:off x="7680960" y="4882896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DB0"/>
                </a:solidFill>
              </a:rPr>
              <a:t>8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1168" y="0"/>
            <a:ext cx="8942832" cy="960120"/>
          </a:xfrm>
          <a:prstGeom prst="rect">
            <a:avLst/>
          </a:prstGeom>
          <a:solidFill>
            <a:srgbClr val="1F4E99"/>
          </a:solidFill>
        </p:spPr>
      </p:sp>
      <p:sp>
        <p:nvSpPr>
          <p:cNvPr id="6" name="Text 4"/>
          <p:cNvSpPr/>
          <p:nvPr/>
        </p:nvSpPr>
        <p:spPr>
          <a:xfrm>
            <a:off x="384048" y="0"/>
            <a:ext cx="85039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🛡️  What is Risk Management?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8595360" cy="640080"/>
          </a:xfrm>
          <a:prstGeom prst="rect">
            <a:avLst/>
          </a:prstGeom>
          <a:solidFill>
            <a:srgbClr val="1F4E99"/>
          </a:solidFill>
        </p:spPr>
      </p:sp>
      <p:sp>
        <p:nvSpPr>
          <p:cNvPr id="8" name="Text 6"/>
          <p:cNvSpPr/>
          <p:nvPr/>
        </p:nvSpPr>
        <p:spPr>
          <a:xfrm>
            <a:off x="365760" y="1024128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</a:rPr>
              <a:t>The process of identifying, assessing, and reducing threats that may harm a company's operations, finances, or reputation.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20440" y="1874520"/>
            <a:ext cx="2103120" cy="2103120"/>
          </a:xfrm>
          <a:prstGeom prst="ellipse">
            <a:avLst/>
          </a:prstGeom>
          <a:solidFill>
            <a:srgbClr val="0D1B2A"/>
          </a:solidFill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0440" y="1874520"/>
            <a:ext cx="2103120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RISK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MANAGEMENT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1920240"/>
            <a:ext cx="2286000" cy="1005840"/>
          </a:xfrm>
          <a:prstGeom prst="rect">
            <a:avLst/>
          </a:prstGeom>
          <a:solidFill>
            <a:srgbClr val="B71C1C"/>
          </a:solidFill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" y="192024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⭐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Reputation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1920240"/>
            <a:ext cx="2286000" cy="1005840"/>
          </a:xfrm>
          <a:prstGeom prst="rect">
            <a:avLst/>
          </a:prstGeom>
          <a:solidFill>
            <a:srgbClr val="2E7D32"/>
          </a:solidFill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192024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💰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Financial Stability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645920" y="3584448"/>
            <a:ext cx="2286000" cy="1005840"/>
          </a:xfrm>
          <a:prstGeom prst="rect">
            <a:avLst/>
          </a:prstGeom>
          <a:solidFill>
            <a:srgbClr val="1F4E99"/>
          </a:solidFill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645920" y="3584448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⚙️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Operations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0" y="3584448"/>
            <a:ext cx="2286000" cy="1005840"/>
          </a:xfrm>
          <a:prstGeom prst="rect">
            <a:avLst/>
          </a:prstGeom>
          <a:solidFill>
            <a:srgbClr val="4A148C"/>
          </a:solidFill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69280" y="3584448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🔒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Customer Data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3" name="Shape 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4" name="Text 2"/>
          <p:cNvSpPr/>
          <p:nvPr/>
        </p:nvSpPr>
        <p:spPr>
          <a:xfrm>
            <a:off x="7680960" y="4882896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DB0"/>
                </a:solidFill>
              </a:rPr>
              <a:t>9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1168" y="0"/>
            <a:ext cx="8942832" cy="960120"/>
          </a:xfrm>
          <a:prstGeom prst="rect">
            <a:avLst/>
          </a:prstGeom>
          <a:solidFill>
            <a:srgbClr val="1F4E99"/>
          </a:solidFill>
        </p:spPr>
      </p:sp>
      <p:sp>
        <p:nvSpPr>
          <p:cNvPr id="6" name="Text 4"/>
          <p:cNvSpPr/>
          <p:nvPr/>
        </p:nvSpPr>
        <p:spPr>
          <a:xfrm>
            <a:off x="384048" y="0"/>
            <a:ext cx="85039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⚠️  Risks Faced by Facebook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2651760" cy="64008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8" name="Text 6"/>
          <p:cNvSpPr/>
          <p:nvPr/>
        </p:nvSpPr>
        <p:spPr>
          <a:xfrm>
            <a:off x="274320" y="1078992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🔓  Cybersecurity Risk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99232" y="1078992"/>
            <a:ext cx="5870448" cy="6400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" name="Text 8"/>
          <p:cNvSpPr/>
          <p:nvPr/>
        </p:nvSpPr>
        <p:spPr>
          <a:xfrm>
            <a:off x="3127248" y="1078992"/>
            <a:ext cx="5669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Inadequate controls allowed third-party apps to freely access user data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1828800"/>
            <a:ext cx="2651760" cy="640080"/>
          </a:xfrm>
          <a:prstGeom prst="rect">
            <a:avLst/>
          </a:prstGeom>
          <a:solidFill>
            <a:srgbClr val="E65100"/>
          </a:solidFill>
        </p:spPr>
      </p:sp>
      <p:sp>
        <p:nvSpPr>
          <p:cNvPr id="12" name="Text 10"/>
          <p:cNvSpPr/>
          <p:nvPr/>
        </p:nvSpPr>
        <p:spPr>
          <a:xfrm>
            <a:off x="274320" y="182880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😤  Reputational Risk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99232" y="1828800"/>
            <a:ext cx="5870448" cy="640080"/>
          </a:xfrm>
          <a:prstGeom prst="rect">
            <a:avLst/>
          </a:prstGeom>
          <a:solidFill>
            <a:srgbClr val="E8EEF9"/>
          </a:solidFill>
        </p:spPr>
      </p:sp>
      <p:sp>
        <p:nvSpPr>
          <p:cNvPr id="14" name="Text 12"/>
          <p:cNvSpPr/>
          <p:nvPr/>
        </p:nvSpPr>
        <p:spPr>
          <a:xfrm>
            <a:off x="3127248" y="1828800"/>
            <a:ext cx="5669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Massive global backlash and collapse of user trust in the platform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2578608"/>
            <a:ext cx="2651760" cy="640080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16" name="Text 14"/>
          <p:cNvSpPr/>
          <p:nvPr/>
        </p:nvSpPr>
        <p:spPr>
          <a:xfrm>
            <a:off x="274320" y="2578608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⚖️  Legal Risk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999232" y="2578608"/>
            <a:ext cx="5870448" cy="6400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3127248" y="2578608"/>
            <a:ext cx="5669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Regulatory investigations across the US, EU, and UK; billions in fines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3328416"/>
            <a:ext cx="2651760" cy="640080"/>
          </a:xfrm>
          <a:prstGeom prst="rect">
            <a:avLst/>
          </a:prstGeom>
          <a:solidFill>
            <a:srgbClr val="1F4E99"/>
          </a:solidFill>
        </p:spPr>
      </p:sp>
      <p:sp>
        <p:nvSpPr>
          <p:cNvPr id="20" name="Text 18"/>
          <p:cNvSpPr/>
          <p:nvPr/>
        </p:nvSpPr>
        <p:spPr>
          <a:xfrm>
            <a:off x="274320" y="3328416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  Compliance Risk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999232" y="3328416"/>
            <a:ext cx="5870448" cy="640080"/>
          </a:xfrm>
          <a:prstGeom prst="rect">
            <a:avLst/>
          </a:prstGeom>
          <a:solidFill>
            <a:srgbClr val="E8EEF9"/>
          </a:solidFill>
        </p:spPr>
      </p:sp>
      <p:sp>
        <p:nvSpPr>
          <p:cNvPr id="22" name="Text 20"/>
          <p:cNvSpPr/>
          <p:nvPr/>
        </p:nvSpPr>
        <p:spPr>
          <a:xfrm>
            <a:off x="3127248" y="3328416"/>
            <a:ext cx="5669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Failure to comply with GDPR and FTC data protection regulations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4320" y="4078224"/>
            <a:ext cx="2651760" cy="640080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24" name="Text 22"/>
          <p:cNvSpPr/>
          <p:nvPr/>
        </p:nvSpPr>
        <p:spPr>
          <a:xfrm>
            <a:off x="274320" y="4078224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🏭  Operational Risk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99232" y="4078224"/>
            <a:ext cx="5870448" cy="6400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" name="Text 24"/>
          <p:cNvSpPr/>
          <p:nvPr/>
        </p:nvSpPr>
        <p:spPr>
          <a:xfrm>
            <a:off x="3127248" y="4078224"/>
            <a:ext cx="5669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</a:rPr>
              <a:t>Breakdown of internal oversight systems for the developer ecosystem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3" name="Shape 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4" name="Text 2"/>
          <p:cNvSpPr/>
          <p:nvPr/>
        </p:nvSpPr>
        <p:spPr>
          <a:xfrm>
            <a:off x="7680960" y="4882896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DB0"/>
                </a:solidFill>
              </a:rPr>
              <a:t>10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1168" y="0"/>
            <a:ext cx="8942832" cy="960120"/>
          </a:xfrm>
          <a:prstGeom prst="rect">
            <a:avLst/>
          </a:prstGeom>
          <a:solidFill>
            <a:srgbClr val="1F4E99"/>
          </a:solidFill>
        </p:spPr>
      </p:sp>
      <p:sp>
        <p:nvSpPr>
          <p:cNvPr id="6" name="Text 4"/>
          <p:cNvSpPr/>
          <p:nvPr/>
        </p:nvSpPr>
        <p:spPr>
          <a:xfrm>
            <a:off x="384048" y="0"/>
            <a:ext cx="85039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Facebook &amp; Risk Management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4114800" cy="438912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8" name="Text 6"/>
          <p:cNvSpPr/>
          <p:nvPr/>
        </p:nvSpPr>
        <p:spPr>
          <a:xfrm>
            <a:off x="274320" y="1024128"/>
            <a:ext cx="4114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❌  What Went Wrong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1536192"/>
            <a:ext cx="4114800" cy="548640"/>
          </a:xfrm>
          <a:prstGeom prst="rect">
            <a:avLst/>
          </a:prstGeom>
          <a:solidFill>
            <a:srgbClr val="FFEBEE"/>
          </a:solidFill>
        </p:spPr>
      </p:sp>
      <p:sp>
        <p:nvSpPr>
          <p:cNvPr id="10" name="Text 8"/>
          <p:cNvSpPr/>
          <p:nvPr/>
        </p:nvSpPr>
        <p:spPr>
          <a:xfrm>
            <a:off x="411480" y="1536192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1C1C"/>
                </a:solidFill>
              </a:rPr>
              <a:t>✗  Insufficient oversight of third-party apps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157984"/>
            <a:ext cx="4114800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Text 10"/>
          <p:cNvSpPr/>
          <p:nvPr/>
        </p:nvSpPr>
        <p:spPr>
          <a:xfrm>
            <a:off x="411480" y="2157984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1C1C"/>
                </a:solidFill>
              </a:rPr>
              <a:t>✗  No user consent framework for data sharing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779776"/>
            <a:ext cx="4114800" cy="548640"/>
          </a:xfrm>
          <a:prstGeom prst="rect">
            <a:avLst/>
          </a:prstGeom>
          <a:solidFill>
            <a:srgbClr val="FFEBEE"/>
          </a:solidFill>
        </p:spPr>
      </p:sp>
      <p:sp>
        <p:nvSpPr>
          <p:cNvPr id="14" name="Text 12"/>
          <p:cNvSpPr/>
          <p:nvPr/>
        </p:nvSpPr>
        <p:spPr>
          <a:xfrm>
            <a:off x="411480" y="2779776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1C1C"/>
                </a:solidFill>
              </a:rPr>
              <a:t>✗  Lack of regular security audits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3401568"/>
            <a:ext cx="4114800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411480" y="3401568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1C1C"/>
                </a:solidFill>
              </a:rPr>
              <a:t>✗  Weak data access controls for developers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024128"/>
            <a:ext cx="4114800" cy="438912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18" name="Text 16"/>
          <p:cNvSpPr/>
          <p:nvPr/>
        </p:nvSpPr>
        <p:spPr>
          <a:xfrm>
            <a:off x="4754880" y="1024128"/>
            <a:ext cx="4114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✅  Better Risk Management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754880" y="1536192"/>
            <a:ext cx="4114800" cy="548640"/>
          </a:xfrm>
          <a:prstGeom prst="rect">
            <a:avLst/>
          </a:prstGeom>
          <a:solidFill>
            <a:srgbClr val="E8F5E9"/>
          </a:solidFill>
        </p:spPr>
      </p:sp>
      <p:sp>
        <p:nvSpPr>
          <p:cNvPr id="20" name="Text 18"/>
          <p:cNvSpPr/>
          <p:nvPr/>
        </p:nvSpPr>
        <p:spPr>
          <a:xfrm>
            <a:off x="4892040" y="1536192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5E20"/>
                </a:solidFill>
              </a:rPr>
              <a:t>✓  Monitor all third-party applications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2157984"/>
            <a:ext cx="4114800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2" name="Text 20"/>
          <p:cNvSpPr/>
          <p:nvPr/>
        </p:nvSpPr>
        <p:spPr>
          <a:xfrm>
            <a:off x="4892040" y="2157984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5E20"/>
                </a:solidFill>
              </a:rPr>
              <a:t>✓  Implement clear data consent frameworks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2779776"/>
            <a:ext cx="4114800" cy="548640"/>
          </a:xfrm>
          <a:prstGeom prst="rect">
            <a:avLst/>
          </a:prstGeom>
          <a:solidFill>
            <a:srgbClr val="E8F5E9"/>
          </a:solidFill>
        </p:spPr>
      </p:sp>
      <p:sp>
        <p:nvSpPr>
          <p:cNvPr id="24" name="Text 22"/>
          <p:cNvSpPr/>
          <p:nvPr/>
        </p:nvSpPr>
        <p:spPr>
          <a:xfrm>
            <a:off x="4892040" y="2779776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5E20"/>
                </a:solidFill>
              </a:rPr>
              <a:t>✓  Conduct regular security assessments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3401568"/>
            <a:ext cx="4114800" cy="5486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" name="Text 24"/>
          <p:cNvSpPr/>
          <p:nvPr/>
        </p:nvSpPr>
        <p:spPr>
          <a:xfrm>
            <a:off x="4892040" y="3401568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5E20"/>
                </a:solidFill>
              </a:rPr>
              <a:t>✓  Build a compliance-first company culture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74320" y="4617720"/>
            <a:ext cx="8595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B8DB0"/>
                </a:solidFill>
              </a:rPr>
              <a:t>📌 Proactive risk management could have significantly reduced — or prevented — the scandal.</a:t>
            </a:r>
            <a:endParaRPr lang="en-US" sz="1100" dirty="0"/>
          </a:p>
        </p:txBody>
      </p:sp>
      <p:sp>
        <p:nvSpPr>
          <p:cNvPr id="28" name="Shape 0"/>
          <p:cNvSpPr/>
          <p:nvPr/>
        </p:nvSpPr>
        <p:spPr>
          <a:xfrm>
            <a:off x="9406890" y="127000"/>
            <a:ext cx="201168" cy="514350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29" name="Shape 1"/>
          <p:cNvSpPr/>
          <p:nvPr/>
        </p:nvSpPr>
        <p:spPr>
          <a:xfrm>
            <a:off x="9406890" y="5000752"/>
            <a:ext cx="9144000" cy="269748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30" name="Text 2"/>
          <p:cNvSpPr/>
          <p:nvPr/>
        </p:nvSpPr>
        <p:spPr>
          <a:xfrm>
            <a:off x="17087850" y="5009896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DB0"/>
                </a:solidFill>
              </a:rPr>
              <a:t>11 / 12</a:t>
            </a:r>
            <a:endParaRPr lang="en-US" sz="1000" dirty="0"/>
          </a:p>
        </p:txBody>
      </p:sp>
      <p:sp>
        <p:nvSpPr>
          <p:cNvPr id="31" name="Shape 3"/>
          <p:cNvSpPr/>
          <p:nvPr/>
        </p:nvSpPr>
        <p:spPr>
          <a:xfrm>
            <a:off x="9608058" y="127000"/>
            <a:ext cx="8942832" cy="960120"/>
          </a:xfrm>
          <a:prstGeom prst="rect">
            <a:avLst/>
          </a:prstGeom>
          <a:solidFill>
            <a:srgbClr val="1F4E99"/>
          </a:solidFill>
        </p:spPr>
      </p:sp>
      <p:sp>
        <p:nvSpPr>
          <p:cNvPr id="32" name="Text 4"/>
          <p:cNvSpPr/>
          <p:nvPr/>
        </p:nvSpPr>
        <p:spPr>
          <a:xfrm>
            <a:off x="9790938" y="127000"/>
            <a:ext cx="85039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✅  Actions Taken by Meta</a:t>
            </a:r>
            <a:endParaRPr lang="en-US" sz="3000" dirty="0"/>
          </a:p>
        </p:txBody>
      </p:sp>
      <p:sp>
        <p:nvSpPr>
          <p:cNvPr id="33" name="Shape 5"/>
          <p:cNvSpPr/>
          <p:nvPr/>
        </p:nvSpPr>
        <p:spPr>
          <a:xfrm>
            <a:off x="9554210" y="1051560"/>
            <a:ext cx="4114800" cy="16002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6"/>
          <p:cNvSpPr/>
          <p:nvPr/>
        </p:nvSpPr>
        <p:spPr>
          <a:xfrm>
            <a:off x="9554210" y="1051560"/>
            <a:ext cx="4114800" cy="9144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35" name="Shape 7"/>
          <p:cNvSpPr/>
          <p:nvPr/>
        </p:nvSpPr>
        <p:spPr>
          <a:xfrm>
            <a:off x="9737090" y="1280160"/>
            <a:ext cx="594360" cy="594360"/>
          </a:xfrm>
          <a:prstGeom prst="ellipse">
            <a:avLst/>
          </a:prstGeom>
          <a:solidFill>
            <a:srgbClr val="B71C1C">
              <a:alpha val="15000"/>
            </a:srgbClr>
          </a:solidFill>
        </p:spPr>
      </p:sp>
      <p:sp>
        <p:nvSpPr>
          <p:cNvPr id="36" name="Text 8"/>
          <p:cNvSpPr/>
          <p:nvPr/>
        </p:nvSpPr>
        <p:spPr>
          <a:xfrm>
            <a:off x="9737090" y="12801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37" name="Text 9"/>
          <p:cNvSpPr/>
          <p:nvPr/>
        </p:nvSpPr>
        <p:spPr>
          <a:xfrm>
            <a:off x="10422890" y="1234440"/>
            <a:ext cx="3154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Restricted Data Access</a:t>
            </a:r>
            <a:endParaRPr lang="en-US" sz="1400" dirty="0"/>
          </a:p>
        </p:txBody>
      </p:sp>
      <p:sp>
        <p:nvSpPr>
          <p:cNvPr id="38" name="Text 10"/>
          <p:cNvSpPr/>
          <p:nvPr/>
        </p:nvSpPr>
        <p:spPr>
          <a:xfrm>
            <a:off x="10422890" y="1645920"/>
            <a:ext cx="315468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DB0"/>
                </a:solidFill>
              </a:rPr>
              <a:t>Limited what third-party apps can access from user profiles and connections</a:t>
            </a:r>
            <a:endParaRPr lang="en-US" sz="1200" dirty="0"/>
          </a:p>
        </p:txBody>
      </p:sp>
      <p:sp>
        <p:nvSpPr>
          <p:cNvPr id="39" name="Shape 11"/>
          <p:cNvSpPr/>
          <p:nvPr/>
        </p:nvSpPr>
        <p:spPr>
          <a:xfrm>
            <a:off x="13989050" y="1051560"/>
            <a:ext cx="4114800" cy="16002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12"/>
          <p:cNvSpPr/>
          <p:nvPr/>
        </p:nvSpPr>
        <p:spPr>
          <a:xfrm>
            <a:off x="13989050" y="1051560"/>
            <a:ext cx="4114800" cy="91440"/>
          </a:xfrm>
          <a:prstGeom prst="rect">
            <a:avLst/>
          </a:prstGeom>
          <a:solidFill>
            <a:srgbClr val="1F4E99"/>
          </a:solidFill>
        </p:spPr>
      </p:sp>
      <p:sp>
        <p:nvSpPr>
          <p:cNvPr id="41" name="Shape 13"/>
          <p:cNvSpPr/>
          <p:nvPr/>
        </p:nvSpPr>
        <p:spPr>
          <a:xfrm>
            <a:off x="14171930" y="1280160"/>
            <a:ext cx="594360" cy="594360"/>
          </a:xfrm>
          <a:prstGeom prst="ellipse">
            <a:avLst/>
          </a:prstGeom>
          <a:solidFill>
            <a:srgbClr val="1F4E99">
              <a:alpha val="15000"/>
            </a:srgbClr>
          </a:solidFill>
        </p:spPr>
      </p:sp>
      <p:sp>
        <p:nvSpPr>
          <p:cNvPr id="42" name="Text 14"/>
          <p:cNvSpPr/>
          <p:nvPr/>
        </p:nvSpPr>
        <p:spPr>
          <a:xfrm>
            <a:off x="14171930" y="12801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43" name="Text 15"/>
          <p:cNvSpPr/>
          <p:nvPr/>
        </p:nvSpPr>
        <p:spPr>
          <a:xfrm>
            <a:off x="14857730" y="1234440"/>
            <a:ext cx="3154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Improved Privacy Settings</a:t>
            </a:r>
            <a:endParaRPr lang="en-US" sz="1400" dirty="0"/>
          </a:p>
        </p:txBody>
      </p:sp>
      <p:sp>
        <p:nvSpPr>
          <p:cNvPr id="44" name="Text 16"/>
          <p:cNvSpPr/>
          <p:nvPr/>
        </p:nvSpPr>
        <p:spPr>
          <a:xfrm>
            <a:off x="14857730" y="1645920"/>
            <a:ext cx="315468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DB0"/>
                </a:solidFill>
              </a:rPr>
              <a:t>Gave users clearer, more accessible controls over their data and privacy options</a:t>
            </a:r>
            <a:endParaRPr lang="en-US" sz="1200" dirty="0"/>
          </a:p>
        </p:txBody>
      </p:sp>
      <p:sp>
        <p:nvSpPr>
          <p:cNvPr id="45" name="Shape 17"/>
          <p:cNvSpPr/>
          <p:nvPr/>
        </p:nvSpPr>
        <p:spPr>
          <a:xfrm>
            <a:off x="9554210" y="2880360"/>
            <a:ext cx="4114800" cy="16002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18"/>
          <p:cNvSpPr/>
          <p:nvPr/>
        </p:nvSpPr>
        <p:spPr>
          <a:xfrm>
            <a:off x="9554210" y="2880360"/>
            <a:ext cx="4114800" cy="91440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47" name="Shape 19"/>
          <p:cNvSpPr/>
          <p:nvPr/>
        </p:nvSpPr>
        <p:spPr>
          <a:xfrm>
            <a:off x="9737090" y="3108960"/>
            <a:ext cx="594360" cy="594360"/>
          </a:xfrm>
          <a:prstGeom prst="ellipse">
            <a:avLst/>
          </a:prstGeom>
          <a:solidFill>
            <a:srgbClr val="2E7D32">
              <a:alpha val="15000"/>
            </a:srgbClr>
          </a:solidFill>
        </p:spPr>
      </p:sp>
      <p:sp>
        <p:nvSpPr>
          <p:cNvPr id="48" name="Text 20"/>
          <p:cNvSpPr/>
          <p:nvPr/>
        </p:nvSpPr>
        <p:spPr>
          <a:xfrm>
            <a:off x="9737090" y="31089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49" name="Text 21"/>
          <p:cNvSpPr/>
          <p:nvPr/>
        </p:nvSpPr>
        <p:spPr>
          <a:xfrm>
            <a:off x="10422890" y="3063240"/>
            <a:ext cx="3154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Cybersecurity Investments</a:t>
            </a:r>
            <a:endParaRPr lang="en-US" sz="1400" dirty="0"/>
          </a:p>
        </p:txBody>
      </p:sp>
      <p:sp>
        <p:nvSpPr>
          <p:cNvPr id="50" name="Text 22"/>
          <p:cNvSpPr/>
          <p:nvPr/>
        </p:nvSpPr>
        <p:spPr>
          <a:xfrm>
            <a:off x="10422890" y="3474720"/>
            <a:ext cx="315468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DB0"/>
                </a:solidFill>
              </a:rPr>
              <a:t>Significantly increased security budget, headcount, and infrastructure</a:t>
            </a:r>
            <a:endParaRPr lang="en-US" sz="1200" dirty="0"/>
          </a:p>
        </p:txBody>
      </p:sp>
      <p:sp>
        <p:nvSpPr>
          <p:cNvPr id="51" name="Shape 23"/>
          <p:cNvSpPr/>
          <p:nvPr/>
        </p:nvSpPr>
        <p:spPr>
          <a:xfrm>
            <a:off x="13989050" y="2880360"/>
            <a:ext cx="4114800" cy="16002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2" name="Shape 24"/>
          <p:cNvSpPr/>
          <p:nvPr/>
        </p:nvSpPr>
        <p:spPr>
          <a:xfrm>
            <a:off x="13989050" y="2880360"/>
            <a:ext cx="4114800" cy="91440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53" name="Shape 25"/>
          <p:cNvSpPr/>
          <p:nvPr/>
        </p:nvSpPr>
        <p:spPr>
          <a:xfrm>
            <a:off x="14171930" y="3108960"/>
            <a:ext cx="594360" cy="594360"/>
          </a:xfrm>
          <a:prstGeom prst="ellipse">
            <a:avLst/>
          </a:prstGeom>
          <a:solidFill>
            <a:srgbClr val="4A148C">
              <a:alpha val="15000"/>
            </a:srgbClr>
          </a:solidFill>
        </p:spPr>
      </p:sp>
      <p:sp>
        <p:nvSpPr>
          <p:cNvPr id="54" name="Text 26"/>
          <p:cNvSpPr/>
          <p:nvPr/>
        </p:nvSpPr>
        <p:spPr>
          <a:xfrm>
            <a:off x="14171930" y="31089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👁️</a:t>
            </a:r>
            <a:endParaRPr lang="en-US" sz="2200" dirty="0"/>
          </a:p>
        </p:txBody>
      </p:sp>
      <p:sp>
        <p:nvSpPr>
          <p:cNvPr id="55" name="Text 27"/>
          <p:cNvSpPr/>
          <p:nvPr/>
        </p:nvSpPr>
        <p:spPr>
          <a:xfrm>
            <a:off x="14857730" y="3063240"/>
            <a:ext cx="3154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Stronger Monitoring</a:t>
            </a:r>
            <a:endParaRPr lang="en-US" sz="1400" dirty="0"/>
          </a:p>
        </p:txBody>
      </p:sp>
      <p:sp>
        <p:nvSpPr>
          <p:cNvPr id="56" name="Text 28"/>
          <p:cNvSpPr/>
          <p:nvPr/>
        </p:nvSpPr>
        <p:spPr>
          <a:xfrm>
            <a:off x="14857730" y="3474720"/>
            <a:ext cx="315468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DB0"/>
                </a:solidFill>
              </a:rPr>
              <a:t>Deployed automated systems to detect and flag policy violations in real time</a:t>
            </a:r>
            <a:endParaRPr lang="en-US" sz="1200" dirty="0"/>
          </a:p>
        </p:txBody>
      </p:sp>
      <p:sp>
        <p:nvSpPr>
          <p:cNvPr id="57" name="Text 29"/>
          <p:cNvSpPr/>
          <p:nvPr/>
        </p:nvSpPr>
        <p:spPr>
          <a:xfrm>
            <a:off x="9681210" y="4744720"/>
            <a:ext cx="8595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B8DB0"/>
                </a:solidFill>
              </a:rPr>
              <a:t>These reforms were designed to rebuild user trust and demonstrate genuine accountability.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3" name="Shape 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4" name="Text 2"/>
          <p:cNvSpPr/>
          <p:nvPr/>
        </p:nvSpPr>
        <p:spPr>
          <a:xfrm>
            <a:off x="7680960" y="4882896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DB0"/>
                </a:solidFill>
              </a:rPr>
              <a:t>11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1168" y="0"/>
            <a:ext cx="8942832" cy="960120"/>
          </a:xfrm>
          <a:prstGeom prst="rect">
            <a:avLst/>
          </a:prstGeom>
          <a:solidFill>
            <a:srgbClr val="1F4E99"/>
          </a:solidFill>
        </p:spPr>
      </p:sp>
      <p:sp>
        <p:nvSpPr>
          <p:cNvPr id="6" name="Text 4"/>
          <p:cNvSpPr/>
          <p:nvPr/>
        </p:nvSpPr>
        <p:spPr>
          <a:xfrm>
            <a:off x="384048" y="0"/>
            <a:ext cx="85039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✅  Actions Taken by Meta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4114800" cy="16002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51560"/>
            <a:ext cx="4114800" cy="9144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9" name="Shape 7"/>
          <p:cNvSpPr/>
          <p:nvPr/>
        </p:nvSpPr>
        <p:spPr>
          <a:xfrm>
            <a:off x="457200" y="1280160"/>
            <a:ext cx="594360" cy="594360"/>
          </a:xfrm>
          <a:prstGeom prst="ellipse">
            <a:avLst/>
          </a:prstGeom>
          <a:solidFill>
            <a:srgbClr val="B71C1C">
              <a:alpha val="15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457200" y="12801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43000" y="1234440"/>
            <a:ext cx="3154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Restricted Data Access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1645920"/>
            <a:ext cx="315468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DB0"/>
                </a:solidFill>
              </a:rPr>
              <a:t>Limited what third-party apps can access from user profiles and connections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1051560"/>
            <a:ext cx="4114800" cy="16002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051560"/>
            <a:ext cx="4114800" cy="91440"/>
          </a:xfrm>
          <a:prstGeom prst="rect">
            <a:avLst/>
          </a:prstGeom>
          <a:solidFill>
            <a:srgbClr val="1F4E99"/>
          </a:solidFill>
        </p:spPr>
      </p:sp>
      <p:sp>
        <p:nvSpPr>
          <p:cNvPr id="15" name="Shape 13"/>
          <p:cNvSpPr/>
          <p:nvPr/>
        </p:nvSpPr>
        <p:spPr>
          <a:xfrm>
            <a:off x="4892040" y="1280160"/>
            <a:ext cx="594360" cy="594360"/>
          </a:xfrm>
          <a:prstGeom prst="ellipse">
            <a:avLst/>
          </a:prstGeom>
          <a:solidFill>
            <a:srgbClr val="1F4E99">
              <a:alpha val="15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4892040" y="12801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577840" y="1234440"/>
            <a:ext cx="3154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Improved Privacy Settings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77840" y="1645920"/>
            <a:ext cx="315468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DB0"/>
                </a:solidFill>
              </a:rPr>
              <a:t>Gave users clearer, more accessible controls over their data and privacy options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2880360"/>
            <a:ext cx="4114800" cy="16002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80360"/>
            <a:ext cx="4114800" cy="91440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21" name="Shape 19"/>
          <p:cNvSpPr/>
          <p:nvPr/>
        </p:nvSpPr>
        <p:spPr>
          <a:xfrm>
            <a:off x="457200" y="3108960"/>
            <a:ext cx="594360" cy="594360"/>
          </a:xfrm>
          <a:prstGeom prst="ellipse">
            <a:avLst/>
          </a:prstGeom>
          <a:solidFill>
            <a:srgbClr val="2E7D32">
              <a:alpha val="15000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457200" y="31089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43000" y="3063240"/>
            <a:ext cx="3154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Cybersecurity Investments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3474720"/>
            <a:ext cx="315468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DB0"/>
                </a:solidFill>
              </a:rPr>
              <a:t>Significantly increased security budget, headcount, and infrastructure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2880360"/>
            <a:ext cx="4114800" cy="16002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880360"/>
            <a:ext cx="4114800" cy="91440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27" name="Shape 25"/>
          <p:cNvSpPr/>
          <p:nvPr/>
        </p:nvSpPr>
        <p:spPr>
          <a:xfrm>
            <a:off x="4892040" y="3108960"/>
            <a:ext cx="594360" cy="594360"/>
          </a:xfrm>
          <a:prstGeom prst="ellipse">
            <a:avLst/>
          </a:prstGeom>
          <a:solidFill>
            <a:srgbClr val="4A148C">
              <a:alpha val="15000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4892040" y="31089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👁️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577840" y="3063240"/>
            <a:ext cx="3154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Stronger Monitoring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77840" y="3474720"/>
            <a:ext cx="315468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DB0"/>
                </a:solidFill>
              </a:rPr>
              <a:t>Deployed automated systems to detect and flag policy violations in real time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4320" y="4617720"/>
            <a:ext cx="8595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B8DB0"/>
                </a:solidFill>
              </a:rPr>
              <a:t>These reforms were designed to rebuild user trust and demonstrate genuine accountability.</a:t>
            </a:r>
            <a:endParaRPr lang="en-US" sz="1100" dirty="0"/>
          </a:p>
        </p:txBody>
      </p:sp>
      <p:sp>
        <p:nvSpPr>
          <p:cNvPr id="32" name="Text 3"/>
          <p:cNvSpPr/>
          <p:nvPr/>
        </p:nvSpPr>
        <p:spPr>
          <a:xfrm flipV="1">
            <a:off x="594360" y="-6613525"/>
            <a:ext cx="659765" cy="1826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</a:rPr>
              <a:t>The Facebook data privacy scandal is a landmark corporate case — showing how failure to protect user data leads to catastrophic financial, legal, and reputational damage.</a:t>
            </a:r>
            <a:endParaRPr lang="en-US" sz="1500" dirty="0"/>
          </a:p>
        </p:txBody>
      </p:sp>
      <p:sp>
        <p:nvSpPr>
          <p:cNvPr id="33" name="Shape 4"/>
          <p:cNvSpPr/>
          <p:nvPr/>
        </p:nvSpPr>
        <p:spPr>
          <a:xfrm flipV="1">
            <a:off x="669290" y="-6848475"/>
            <a:ext cx="207010" cy="3268980"/>
          </a:xfrm>
          <a:prstGeom prst="rect">
            <a:avLst/>
          </a:prstGeom>
          <a:solidFill>
            <a:srgbClr val="B71C1C"/>
          </a:solidFill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Text 5"/>
          <p:cNvSpPr/>
          <p:nvPr/>
        </p:nvSpPr>
        <p:spPr>
          <a:xfrm flipV="1">
            <a:off x="594360" y="-5342255"/>
            <a:ext cx="207010" cy="16344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🔒</a:t>
            </a:r>
            <a:endParaRPr lang="en-US" sz="3600" dirty="0"/>
          </a:p>
        </p:txBody>
      </p:sp>
      <p:sp>
        <p:nvSpPr>
          <p:cNvPr id="35" name="Text 6"/>
          <p:cNvSpPr/>
          <p:nvPr/>
        </p:nvSpPr>
        <p:spPr>
          <a:xfrm flipV="1">
            <a:off x="594360" y="-4399915"/>
            <a:ext cx="207010" cy="14420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 Privacy</a:t>
            </a:r>
            <a:endParaRPr lang="en-US" sz="1600" dirty="0"/>
          </a:p>
        </p:txBody>
      </p:sp>
      <p:sp>
        <p:nvSpPr>
          <p:cNvPr id="36" name="Shape 7"/>
          <p:cNvSpPr/>
          <p:nvPr/>
        </p:nvSpPr>
        <p:spPr>
          <a:xfrm flipV="1">
            <a:off x="3429000" y="-7031355"/>
            <a:ext cx="207010" cy="3268980"/>
          </a:xfrm>
          <a:prstGeom prst="rect">
            <a:avLst/>
          </a:prstGeom>
          <a:solidFill>
            <a:srgbClr val="1F4E99"/>
          </a:solidFill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Text 8"/>
          <p:cNvSpPr/>
          <p:nvPr/>
        </p:nvSpPr>
        <p:spPr>
          <a:xfrm flipV="1">
            <a:off x="3429000" y="-5342255"/>
            <a:ext cx="207010" cy="16344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🛡️</a:t>
            </a:r>
            <a:endParaRPr lang="en-US" sz="3600" dirty="0"/>
          </a:p>
        </p:txBody>
      </p:sp>
      <p:sp>
        <p:nvSpPr>
          <p:cNvPr id="38" name="Text 9"/>
          <p:cNvSpPr/>
          <p:nvPr/>
        </p:nvSpPr>
        <p:spPr>
          <a:xfrm flipV="1">
            <a:off x="3429000" y="-4399915"/>
            <a:ext cx="207010" cy="14420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Cybersecurity</a:t>
            </a:r>
            <a:endParaRPr lang="en-US" sz="1600" dirty="0"/>
          </a:p>
        </p:txBody>
      </p:sp>
      <p:sp>
        <p:nvSpPr>
          <p:cNvPr id="39" name="Shape 10"/>
          <p:cNvSpPr/>
          <p:nvPr/>
        </p:nvSpPr>
        <p:spPr>
          <a:xfrm flipV="1">
            <a:off x="6263640" y="-7031355"/>
            <a:ext cx="207010" cy="3268980"/>
          </a:xfrm>
          <a:prstGeom prst="rect">
            <a:avLst/>
          </a:prstGeom>
          <a:solidFill>
            <a:srgbClr val="2E7D32"/>
          </a:solidFill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Text 11"/>
          <p:cNvSpPr/>
          <p:nvPr/>
        </p:nvSpPr>
        <p:spPr>
          <a:xfrm flipV="1">
            <a:off x="6263640" y="-5342255"/>
            <a:ext cx="207010" cy="16344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41" name="Text 12"/>
          <p:cNvSpPr/>
          <p:nvPr/>
        </p:nvSpPr>
        <p:spPr>
          <a:xfrm flipV="1">
            <a:off x="6263640" y="-4399915"/>
            <a:ext cx="207010" cy="14420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Risk Management</a:t>
            </a:r>
            <a:endParaRPr lang="en-US" sz="1600" dirty="0"/>
          </a:p>
        </p:txBody>
      </p:sp>
      <p:sp>
        <p:nvSpPr>
          <p:cNvPr id="42" name="Text 13"/>
          <p:cNvSpPr/>
          <p:nvPr/>
        </p:nvSpPr>
        <p:spPr>
          <a:xfrm flipV="1">
            <a:off x="594360" y="-2986405"/>
            <a:ext cx="659765" cy="9613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9A825"/>
                </a:solidFill>
              </a:rPr>
              <a:t>"Good risk management is not a reaction to failure — it is the prevention of it."</a:t>
            </a:r>
            <a:endParaRPr lang="en-US" sz="1300" dirty="0"/>
          </a:p>
        </p:txBody>
      </p:sp>
      <p:sp>
        <p:nvSpPr>
          <p:cNvPr id="43" name="Text 14"/>
          <p:cNvSpPr/>
          <p:nvPr/>
        </p:nvSpPr>
        <p:spPr>
          <a:xfrm flipV="1">
            <a:off x="457200" y="-1985010"/>
            <a:ext cx="652780" cy="673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8DB0"/>
                </a:solidFill>
              </a:rPr>
              <a:t>Facebook (Meta) &amp; Data Privacy  |  Risk Management Case Study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3" name="Shape 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B3A6B"/>
          </a:solidFill>
        </p:spPr>
      </p:sp>
      <p:sp>
        <p:nvSpPr>
          <p:cNvPr id="4" name="Text 2"/>
          <p:cNvSpPr/>
          <p:nvPr/>
        </p:nvSpPr>
        <p:spPr>
          <a:xfrm>
            <a:off x="594360" y="228600"/>
            <a:ext cx="82296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Conclusion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94360" y="1005840"/>
            <a:ext cx="8321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</a:rPr>
              <a:t>The Facebook data privacy scandal is a landmark corporate case — showing how failure to protect user data leads to catastrophic financial, legal, and reputational damage.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69005" y="2212848"/>
            <a:ext cx="2606040" cy="1554480"/>
          </a:xfrm>
          <a:prstGeom prst="rect">
            <a:avLst/>
          </a:prstGeom>
          <a:solidFill>
            <a:srgbClr val="B71C1C"/>
          </a:solidFill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084832"/>
            <a:ext cx="2606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🔒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94360" y="2834640"/>
            <a:ext cx="2606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 Privacy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29000" y="2029968"/>
            <a:ext cx="2606040" cy="1554480"/>
          </a:xfrm>
          <a:prstGeom prst="rect">
            <a:avLst/>
          </a:prstGeom>
          <a:solidFill>
            <a:srgbClr val="1F4E99"/>
          </a:solidFill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2084832"/>
            <a:ext cx="2606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🛡️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429000" y="2834640"/>
            <a:ext cx="2606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Cybersecurity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63640" y="2029968"/>
            <a:ext cx="2606040" cy="1554480"/>
          </a:xfrm>
          <a:prstGeom prst="rect">
            <a:avLst/>
          </a:prstGeom>
          <a:solidFill>
            <a:srgbClr val="2E7D32"/>
          </a:solidFill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2084832"/>
            <a:ext cx="2606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263640" y="2834640"/>
            <a:ext cx="2606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Risk Management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3767328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9A825"/>
                </a:solidFill>
              </a:rPr>
              <a:t>"Good risk management is not a reaction to failure — it is the prevention of it."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8DB0"/>
                </a:solidFill>
              </a:rPr>
              <a:t>Facebook (Meta) &amp; Data Privacy  |  Risk Management Case Study</a:t>
            </a:r>
            <a:endParaRPr lang="en-US" sz="1100" dirty="0"/>
          </a:p>
        </p:txBody>
      </p:sp>
      <p:sp>
        <p:nvSpPr>
          <p:cNvPr id="17" name="Shape 0"/>
          <p:cNvSpPr/>
          <p:nvPr/>
        </p:nvSpPr>
        <p:spPr>
          <a:xfrm>
            <a:off x="91440" y="5351780"/>
            <a:ext cx="201168" cy="514350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18" name="Shape 1"/>
          <p:cNvSpPr/>
          <p:nvPr/>
        </p:nvSpPr>
        <p:spPr>
          <a:xfrm>
            <a:off x="91440" y="10225532"/>
            <a:ext cx="9144000" cy="269748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19" name="Text 2"/>
          <p:cNvSpPr/>
          <p:nvPr/>
        </p:nvSpPr>
        <p:spPr>
          <a:xfrm>
            <a:off x="7772400" y="10234676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DB0"/>
                </a:solidFill>
              </a:rPr>
              <a:t>11 / 12</a:t>
            </a:r>
            <a:endParaRPr lang="en-US" sz="1000" dirty="0"/>
          </a:p>
        </p:txBody>
      </p:sp>
      <p:sp>
        <p:nvSpPr>
          <p:cNvPr id="20" name="Shape 3"/>
          <p:cNvSpPr/>
          <p:nvPr/>
        </p:nvSpPr>
        <p:spPr>
          <a:xfrm>
            <a:off x="292608" y="5351780"/>
            <a:ext cx="8942832" cy="960120"/>
          </a:xfrm>
          <a:prstGeom prst="rect">
            <a:avLst/>
          </a:prstGeom>
          <a:solidFill>
            <a:srgbClr val="1F4E99"/>
          </a:solidFill>
        </p:spPr>
      </p:sp>
      <p:sp>
        <p:nvSpPr>
          <p:cNvPr id="21" name="Text 4"/>
          <p:cNvSpPr/>
          <p:nvPr/>
        </p:nvSpPr>
        <p:spPr>
          <a:xfrm>
            <a:off x="475488" y="5351780"/>
            <a:ext cx="85039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✅  Actions Taken by Meta</a:t>
            </a:r>
            <a:endParaRPr lang="en-US" sz="3000" dirty="0"/>
          </a:p>
        </p:txBody>
      </p:sp>
      <p:sp>
        <p:nvSpPr>
          <p:cNvPr id="22" name="Shape 5"/>
          <p:cNvSpPr/>
          <p:nvPr/>
        </p:nvSpPr>
        <p:spPr>
          <a:xfrm>
            <a:off x="365760" y="6403340"/>
            <a:ext cx="4114800" cy="16002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6"/>
          <p:cNvSpPr/>
          <p:nvPr/>
        </p:nvSpPr>
        <p:spPr>
          <a:xfrm>
            <a:off x="365760" y="6403340"/>
            <a:ext cx="4114800" cy="91440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24" name="Shape 7"/>
          <p:cNvSpPr/>
          <p:nvPr/>
        </p:nvSpPr>
        <p:spPr>
          <a:xfrm>
            <a:off x="548640" y="6631940"/>
            <a:ext cx="594360" cy="594360"/>
          </a:xfrm>
          <a:prstGeom prst="ellipse">
            <a:avLst/>
          </a:prstGeom>
          <a:solidFill>
            <a:srgbClr val="B71C1C">
              <a:alpha val="15000"/>
            </a:srgbClr>
          </a:solidFill>
        </p:spPr>
      </p:sp>
      <p:sp>
        <p:nvSpPr>
          <p:cNvPr id="25" name="Text 8"/>
          <p:cNvSpPr/>
          <p:nvPr/>
        </p:nvSpPr>
        <p:spPr>
          <a:xfrm>
            <a:off x="548640" y="66319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26" name="Text 9"/>
          <p:cNvSpPr/>
          <p:nvPr/>
        </p:nvSpPr>
        <p:spPr>
          <a:xfrm>
            <a:off x="1234440" y="6586220"/>
            <a:ext cx="3154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Restricted Data Access</a:t>
            </a:r>
            <a:endParaRPr lang="en-US" sz="1400" dirty="0"/>
          </a:p>
        </p:txBody>
      </p:sp>
      <p:sp>
        <p:nvSpPr>
          <p:cNvPr id="27" name="Text 10"/>
          <p:cNvSpPr/>
          <p:nvPr/>
        </p:nvSpPr>
        <p:spPr>
          <a:xfrm>
            <a:off x="1234440" y="6997700"/>
            <a:ext cx="315468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DB0"/>
                </a:solidFill>
              </a:rPr>
              <a:t>Limited what third-party apps can access from user profiles and connections</a:t>
            </a:r>
            <a:endParaRPr lang="en-US" sz="1200" dirty="0"/>
          </a:p>
        </p:txBody>
      </p:sp>
      <p:sp>
        <p:nvSpPr>
          <p:cNvPr id="28" name="Shape 11"/>
          <p:cNvSpPr/>
          <p:nvPr/>
        </p:nvSpPr>
        <p:spPr>
          <a:xfrm>
            <a:off x="4800600" y="6403340"/>
            <a:ext cx="4114800" cy="16002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12"/>
          <p:cNvSpPr/>
          <p:nvPr/>
        </p:nvSpPr>
        <p:spPr>
          <a:xfrm>
            <a:off x="4800600" y="6403340"/>
            <a:ext cx="4114800" cy="91440"/>
          </a:xfrm>
          <a:prstGeom prst="rect">
            <a:avLst/>
          </a:prstGeom>
          <a:solidFill>
            <a:srgbClr val="1F4E99"/>
          </a:solidFill>
        </p:spPr>
      </p:sp>
      <p:sp>
        <p:nvSpPr>
          <p:cNvPr id="30" name="Shape 13"/>
          <p:cNvSpPr/>
          <p:nvPr/>
        </p:nvSpPr>
        <p:spPr>
          <a:xfrm>
            <a:off x="4983480" y="6631940"/>
            <a:ext cx="594360" cy="594360"/>
          </a:xfrm>
          <a:prstGeom prst="ellipse">
            <a:avLst/>
          </a:prstGeom>
          <a:solidFill>
            <a:srgbClr val="1F4E99">
              <a:alpha val="15000"/>
            </a:srgbClr>
          </a:solidFill>
        </p:spPr>
      </p:sp>
      <p:sp>
        <p:nvSpPr>
          <p:cNvPr id="31" name="Text 14"/>
          <p:cNvSpPr/>
          <p:nvPr/>
        </p:nvSpPr>
        <p:spPr>
          <a:xfrm>
            <a:off x="4983480" y="66319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32" name="Text 15"/>
          <p:cNvSpPr/>
          <p:nvPr/>
        </p:nvSpPr>
        <p:spPr>
          <a:xfrm>
            <a:off x="5669280" y="6586220"/>
            <a:ext cx="3154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Improved Privacy Settings</a:t>
            </a:r>
            <a:endParaRPr lang="en-US" sz="1400" dirty="0"/>
          </a:p>
        </p:txBody>
      </p:sp>
      <p:sp>
        <p:nvSpPr>
          <p:cNvPr id="33" name="Text 16"/>
          <p:cNvSpPr/>
          <p:nvPr/>
        </p:nvSpPr>
        <p:spPr>
          <a:xfrm>
            <a:off x="5669280" y="6997700"/>
            <a:ext cx="315468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DB0"/>
                </a:solidFill>
              </a:rPr>
              <a:t>Gave users clearer, more accessible controls over their data and privacy options</a:t>
            </a:r>
            <a:endParaRPr lang="en-US" sz="1200" dirty="0"/>
          </a:p>
        </p:txBody>
      </p:sp>
      <p:sp>
        <p:nvSpPr>
          <p:cNvPr id="34" name="Shape 17"/>
          <p:cNvSpPr/>
          <p:nvPr/>
        </p:nvSpPr>
        <p:spPr>
          <a:xfrm>
            <a:off x="365760" y="8232140"/>
            <a:ext cx="4114800" cy="16002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18"/>
          <p:cNvSpPr/>
          <p:nvPr/>
        </p:nvSpPr>
        <p:spPr>
          <a:xfrm>
            <a:off x="365760" y="8232140"/>
            <a:ext cx="4114800" cy="91440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36" name="Shape 19"/>
          <p:cNvSpPr/>
          <p:nvPr/>
        </p:nvSpPr>
        <p:spPr>
          <a:xfrm>
            <a:off x="548640" y="8460740"/>
            <a:ext cx="594360" cy="594360"/>
          </a:xfrm>
          <a:prstGeom prst="ellipse">
            <a:avLst/>
          </a:prstGeom>
          <a:solidFill>
            <a:srgbClr val="2E7D32">
              <a:alpha val="15000"/>
            </a:srgbClr>
          </a:solidFill>
        </p:spPr>
      </p:sp>
      <p:sp>
        <p:nvSpPr>
          <p:cNvPr id="37" name="Text 20"/>
          <p:cNvSpPr/>
          <p:nvPr/>
        </p:nvSpPr>
        <p:spPr>
          <a:xfrm>
            <a:off x="548640" y="84607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38" name="Text 21"/>
          <p:cNvSpPr/>
          <p:nvPr/>
        </p:nvSpPr>
        <p:spPr>
          <a:xfrm>
            <a:off x="1234440" y="8415020"/>
            <a:ext cx="3154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Cybersecurity Investments</a:t>
            </a:r>
            <a:endParaRPr lang="en-US" sz="1400" dirty="0"/>
          </a:p>
        </p:txBody>
      </p:sp>
      <p:sp>
        <p:nvSpPr>
          <p:cNvPr id="39" name="Text 22"/>
          <p:cNvSpPr/>
          <p:nvPr/>
        </p:nvSpPr>
        <p:spPr>
          <a:xfrm>
            <a:off x="1234440" y="8826500"/>
            <a:ext cx="315468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DB0"/>
                </a:solidFill>
              </a:rPr>
              <a:t>Significantly increased security budget, headcount, and infrastructure</a:t>
            </a:r>
            <a:endParaRPr lang="en-US" sz="1200" dirty="0"/>
          </a:p>
        </p:txBody>
      </p:sp>
      <p:sp>
        <p:nvSpPr>
          <p:cNvPr id="40" name="Shape 23"/>
          <p:cNvSpPr/>
          <p:nvPr/>
        </p:nvSpPr>
        <p:spPr>
          <a:xfrm>
            <a:off x="4800600" y="8232140"/>
            <a:ext cx="4114800" cy="16002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24"/>
          <p:cNvSpPr/>
          <p:nvPr/>
        </p:nvSpPr>
        <p:spPr>
          <a:xfrm>
            <a:off x="4800600" y="8232140"/>
            <a:ext cx="4114800" cy="91440"/>
          </a:xfrm>
          <a:prstGeom prst="rect">
            <a:avLst/>
          </a:prstGeom>
          <a:solidFill>
            <a:srgbClr val="4A148C"/>
          </a:solidFill>
        </p:spPr>
      </p:sp>
      <p:sp>
        <p:nvSpPr>
          <p:cNvPr id="42" name="Shape 25"/>
          <p:cNvSpPr/>
          <p:nvPr/>
        </p:nvSpPr>
        <p:spPr>
          <a:xfrm>
            <a:off x="4983480" y="8460740"/>
            <a:ext cx="594360" cy="594360"/>
          </a:xfrm>
          <a:prstGeom prst="ellipse">
            <a:avLst/>
          </a:prstGeom>
          <a:solidFill>
            <a:srgbClr val="4A148C">
              <a:alpha val="15000"/>
            </a:srgbClr>
          </a:solidFill>
        </p:spPr>
      </p:sp>
      <p:sp>
        <p:nvSpPr>
          <p:cNvPr id="43" name="Text 26"/>
          <p:cNvSpPr/>
          <p:nvPr/>
        </p:nvSpPr>
        <p:spPr>
          <a:xfrm>
            <a:off x="4983480" y="846074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👁️</a:t>
            </a:r>
            <a:endParaRPr lang="en-US" sz="2200" dirty="0"/>
          </a:p>
        </p:txBody>
      </p:sp>
      <p:sp>
        <p:nvSpPr>
          <p:cNvPr id="44" name="Text 27"/>
          <p:cNvSpPr/>
          <p:nvPr/>
        </p:nvSpPr>
        <p:spPr>
          <a:xfrm>
            <a:off x="5669280" y="8415020"/>
            <a:ext cx="3154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Stronger Monitoring</a:t>
            </a:r>
            <a:endParaRPr lang="en-US" sz="1400" dirty="0"/>
          </a:p>
        </p:txBody>
      </p:sp>
      <p:sp>
        <p:nvSpPr>
          <p:cNvPr id="45" name="Text 28"/>
          <p:cNvSpPr/>
          <p:nvPr/>
        </p:nvSpPr>
        <p:spPr>
          <a:xfrm>
            <a:off x="5669280" y="8826500"/>
            <a:ext cx="315468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DB0"/>
                </a:solidFill>
              </a:rPr>
              <a:t>Deployed automated systems to detect and flag policy violations in real time</a:t>
            </a:r>
            <a:endParaRPr lang="en-US" sz="1200" dirty="0"/>
          </a:p>
        </p:txBody>
      </p:sp>
      <p:sp>
        <p:nvSpPr>
          <p:cNvPr id="46" name="Text 29"/>
          <p:cNvSpPr/>
          <p:nvPr/>
        </p:nvSpPr>
        <p:spPr>
          <a:xfrm>
            <a:off x="365760" y="9969500"/>
            <a:ext cx="8595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B8DB0"/>
                </a:solidFill>
              </a:rPr>
              <a:t>These reforms were designed to rebuild user trust and demonstrate genuine accountability.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9121</Words>
  <Application>WPS Presentation</Application>
  <PresentationFormat>On-screen Show (16:9)</PresentationFormat>
  <Paragraphs>663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Arial</vt:lpstr>
      <vt:lpstr>SimSun</vt:lpstr>
      <vt:lpstr>Wingdings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Facebook (Meta) and Data Privacy Scandal</dc:title>
  <dc:creator>PptxGenJS</dc:creator>
  <dc:subject>PptxGenJS Presentation</dc:subject>
  <cp:lastModifiedBy>Omar Hesham</cp:lastModifiedBy>
  <cp:revision>3</cp:revision>
  <dcterms:created xsi:type="dcterms:W3CDTF">2026-05-11T22:42:00Z</dcterms:created>
  <dcterms:modified xsi:type="dcterms:W3CDTF">2026-05-11T23:24:32Z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1033-12.1.0.25862</vt:lpwstr>
  </property>
  <property fmtid="{D5CDD505-2E9C-101B-9397-08002B2CF9AE}" pid="3" name="ICV">
    <vt:lpwstr>33B8583A4F024F99BAF710A4E9CD0D4A_12</vt:lpwstr>
  </property>
</Properties>
</file>